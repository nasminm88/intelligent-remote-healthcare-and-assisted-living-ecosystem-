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57" r:id="rId2"/>
    <p:sldId id="259" r:id="rId3"/>
    <p:sldId id="260" r:id="rId4"/>
    <p:sldId id="266" r:id="rId5"/>
    <p:sldId id="261" r:id="rId6"/>
    <p:sldId id="267" r:id="rId7"/>
    <p:sldId id="270" r:id="rId8"/>
    <p:sldId id="273" r:id="rId9"/>
    <p:sldId id="274" r:id="rId10"/>
    <p:sldId id="275" r:id="rId11"/>
    <p:sldId id="276" r:id="rId12"/>
    <p:sldId id="277" r:id="rId13"/>
    <p:sldId id="278" r:id="rId14"/>
    <p:sldId id="2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26FC0-AAB4-4987-8FB2-F716E65F942C}" v="66" dt="2026-09-06T13:24:59.065"/>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75686" autoAdjust="0"/>
  </p:normalViewPr>
  <p:slideViewPr>
    <p:cSldViewPr snapToGrid="0" snapToObjects="1" showGuides="1">
      <p:cViewPr varScale="1">
        <p:scale>
          <a:sx n="62" d="100"/>
          <a:sy n="62" d="100"/>
        </p:scale>
        <p:origin x="1325"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a:defRPr>
            </a:lvl1pPr>
          </a:lstStyle>
          <a:p>
            <a:fld id="{0239D73C-AF14-7643-8BC7-209F4FB10DDF}" type="datetimeFigureOut">
              <a:rPr lang="en-US" smtClean="0"/>
              <a:pPr/>
              <a:t>9/10/2026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a:defRPr>
            </a:lvl1pPr>
          </a:lstStyle>
          <a:p>
            <a:fld id="{F52A25F9-16D3-E64A-8639-7B020C319E7B}" type="slidenum">
              <a:rPr lang="en-US" smtClean="0"/>
              <a:pPr/>
              <a:t>‹#›</a:t>
            </a:fld>
            <a:endParaRPr lang="en-US" dirty="0"/>
          </a:p>
        </p:txBody>
      </p:sp>
    </p:spTree>
    <p:extLst>
      <p:ext uri="{BB962C8B-B14F-4D97-AF65-F5344CB8AC3E}">
        <p14:creationId xmlns:p14="http://schemas.microsoft.com/office/powerpoint/2010/main" val="1908973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a:ea typeface="+mn-ea"/>
        <a:cs typeface="+mn-cs"/>
      </a:defRPr>
    </a:lvl1pPr>
    <a:lvl2pPr marL="457200" algn="l" defTabSz="914400" rtl="0" eaLnBrk="1" latinLnBrk="0" hangingPunct="1">
      <a:defRPr sz="1200" b="0" i="0" kern="1200">
        <a:solidFill>
          <a:schemeClr val="tx1"/>
        </a:solidFill>
        <a:latin typeface="Arial Regular"/>
        <a:ea typeface="+mn-ea"/>
        <a:cs typeface="+mn-cs"/>
      </a:defRPr>
    </a:lvl2pPr>
    <a:lvl3pPr marL="914400" algn="l" defTabSz="914400" rtl="0" eaLnBrk="1" latinLnBrk="0" hangingPunct="1">
      <a:defRPr sz="1200" b="0" i="0" kern="1200">
        <a:solidFill>
          <a:schemeClr val="tx1"/>
        </a:solidFill>
        <a:latin typeface="Arial Regular"/>
        <a:ea typeface="+mn-ea"/>
        <a:cs typeface="+mn-cs"/>
      </a:defRPr>
    </a:lvl3pPr>
    <a:lvl4pPr marL="1371600" algn="l" defTabSz="914400" rtl="0" eaLnBrk="1" latinLnBrk="0" hangingPunct="1">
      <a:defRPr sz="1200" b="0" i="0" kern="1200">
        <a:solidFill>
          <a:schemeClr val="tx1"/>
        </a:solidFill>
        <a:latin typeface="Arial Regular"/>
        <a:ea typeface="+mn-ea"/>
        <a:cs typeface="+mn-cs"/>
      </a:defRPr>
    </a:lvl4pPr>
    <a:lvl5pPr marL="1828800" algn="l" defTabSz="914400" rtl="0" eaLnBrk="1" latinLnBrk="0" hangingPunct="1">
      <a:defRPr sz="1200" b="0" i="0" kern="1200">
        <a:solidFill>
          <a:schemeClr val="tx1"/>
        </a:solidFill>
        <a:latin typeface="Arial Regular"/>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2A25F9-16D3-E64A-8639-7B020C319E7B}" type="slidenum">
              <a:rPr lang="en-US" smtClean="0"/>
              <a:pPr/>
              <a:t>5</a:t>
            </a:fld>
            <a:endParaRPr lang="en-US" dirty="0"/>
          </a:p>
        </p:txBody>
      </p:sp>
    </p:spTree>
    <p:extLst>
      <p:ext uri="{BB962C8B-B14F-4D97-AF65-F5344CB8AC3E}">
        <p14:creationId xmlns:p14="http://schemas.microsoft.com/office/powerpoint/2010/main" val="666057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2A25F9-16D3-E64A-8639-7B020C319E7B}" type="slidenum">
              <a:rPr lang="en-US" smtClean="0"/>
              <a:pPr/>
              <a:t>7</a:t>
            </a:fld>
            <a:endParaRPr lang="en-US" dirty="0"/>
          </a:p>
        </p:txBody>
      </p:sp>
    </p:spTree>
    <p:extLst>
      <p:ext uri="{BB962C8B-B14F-4D97-AF65-F5344CB8AC3E}">
        <p14:creationId xmlns:p14="http://schemas.microsoft.com/office/powerpoint/2010/main" val="12226340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bg1"/>
                </a:solidFill>
                <a:latin typeface="Georgia" charset="0"/>
                <a:ea typeface="Georgia" charset="0"/>
                <a:cs typeface="Georgia"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Presentation</a:t>
            </a:r>
            <a:br>
              <a:rPr lang="en-US" dirty="0"/>
            </a:br>
            <a:r>
              <a:rPr lang="en-US" dirty="0"/>
              <a:t>Title</a:t>
            </a:r>
          </a:p>
        </p:txBody>
      </p:sp>
      <p:pic>
        <p:nvPicPr>
          <p:cNvPr id="8" name="Picture 7" descr="University at Buffalo, The State University of New York logo">
            <a:extLst>
              <a:ext uri="{FF2B5EF4-FFF2-40B4-BE49-F238E27FC236}">
                <a16:creationId xmlns:a16="http://schemas.microsoft.com/office/drawing/2014/main" id="{9C7DE7FF-FD86-434E-91D5-DF1AA23EE75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0400" y="6041226"/>
            <a:ext cx="4800600" cy="356029"/>
          </a:xfrm>
          <a:prstGeom prst="rect">
            <a:avLst/>
          </a:prstGeom>
        </p:spPr>
      </p:pic>
    </p:spTree>
    <p:extLst>
      <p:ext uri="{BB962C8B-B14F-4D97-AF65-F5344CB8AC3E}">
        <p14:creationId xmlns:p14="http://schemas.microsoft.com/office/powerpoint/2010/main" val="382541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Autofit/>
          </a:bodyPr>
          <a:lstStyle>
            <a:lvl1pPr marL="0" indent="0" algn="l">
              <a:buNone/>
              <a:defRPr sz="2800" b="0" baseline="0">
                <a:solidFill>
                  <a:schemeClr val="bg1"/>
                </a:solidFill>
                <a:latin typeface="Georgia" charset="0"/>
                <a:ea typeface="Georgia" charset="0"/>
                <a:cs typeface="Georgi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Tree>
    <p:extLst>
      <p:ext uri="{BB962C8B-B14F-4D97-AF65-F5344CB8AC3E}">
        <p14:creationId xmlns:p14="http://schemas.microsoft.com/office/powerpoint/2010/main" val="252752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1E420E5-CF10-E744-8836-DA131F3DFECE}"/>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91240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4A51F46-BA21-2546-AE85-93B56EC06187}"/>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083219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and Doub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2B2E-D090-724F-8681-FBE0CDA2F117}"/>
              </a:ext>
            </a:extLst>
          </p:cNvPr>
          <p:cNvSpPr>
            <a:spLocks noGrp="1"/>
          </p:cNvSpPr>
          <p:nvPr>
            <p:ph type="title"/>
          </p:nvPr>
        </p:nvSpPr>
        <p:spPr>
          <a:xfrm>
            <a:off x="566928" y="1499616"/>
            <a:ext cx="10515600" cy="5909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E559530-982F-0F4F-B296-9DB2F44D8051}"/>
              </a:ext>
            </a:extLst>
          </p:cNvPr>
          <p:cNvSpPr>
            <a:spLocks noGrp="1"/>
          </p:cNvSpPr>
          <p:nvPr>
            <p:ph sz="half" idx="1"/>
          </p:nvPr>
        </p:nvSpPr>
        <p:spPr>
          <a:xfrm>
            <a:off x="566928" y="2185416"/>
            <a:ext cx="4500372" cy="3948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0367C6-4AC8-9C47-BDFA-A5613CF90E15}"/>
              </a:ext>
            </a:extLst>
          </p:cNvPr>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FC1A3F1F-FF47-0844-82BA-F475FCD0AAB6}"/>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49946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5C1-32E2-374C-809B-D54BEC11EB3F}"/>
              </a:ext>
            </a:extLst>
          </p:cNvPr>
          <p:cNvSpPr>
            <a:spLocks noGrp="1"/>
          </p:cNvSpPr>
          <p:nvPr>
            <p:ph type="title"/>
          </p:nvPr>
        </p:nvSpPr>
        <p:spPr>
          <a:xfrm>
            <a:off x="566928" y="1499616"/>
            <a:ext cx="10515600" cy="590931"/>
          </a:xfrm>
        </p:spPr>
        <p:txBody>
          <a:bodyPr>
            <a:spAutoFit/>
          </a:bodyPr>
          <a:lstStyle/>
          <a:p>
            <a:r>
              <a:rPr lang="en-US" dirty="0"/>
              <a:t>Click to edit Master title style</a:t>
            </a:r>
          </a:p>
        </p:txBody>
      </p:sp>
      <p:sp>
        <p:nvSpPr>
          <p:cNvPr id="3" name="Text Placeholder 2">
            <a:extLst>
              <a:ext uri="{FF2B5EF4-FFF2-40B4-BE49-F238E27FC236}">
                <a16:creationId xmlns:a16="http://schemas.microsoft.com/office/drawing/2014/main" id="{9798817A-73B4-F340-8D0E-FB813E55F799}"/>
              </a:ext>
            </a:extLst>
          </p:cNvPr>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B5126641-0094-3D49-865E-3DB9ECAC43C4}"/>
              </a:ext>
            </a:extLst>
          </p:cNvPr>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6E11705-25F9-194A-9D2F-C9FEEA3A5744}"/>
              </a:ext>
            </a:extLst>
          </p:cNvPr>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D978716-6004-6344-B5D2-C780B062C9CF}"/>
              </a:ext>
            </a:extLst>
          </p:cNvPr>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4BCA91F9-8796-3D42-B75E-9C7F7D9B7352}"/>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74844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2439-3BDA-DB47-AA02-5590274D40F8}"/>
              </a:ext>
            </a:extLst>
          </p:cNvPr>
          <p:cNvSpPr>
            <a:spLocks noGrp="1"/>
          </p:cNvSpPr>
          <p:nvPr>
            <p:ph type="title"/>
          </p:nvPr>
        </p:nvSpPr>
        <p:spPr/>
        <p:txBody>
          <a:bodyPr>
            <a:spAutoFit/>
          </a:bodyPr>
          <a:lstStyle/>
          <a:p>
            <a:r>
              <a:rPr lang="en-US" dirty="0"/>
              <a:t>Click to edit Master title style</a:t>
            </a:r>
          </a:p>
        </p:txBody>
      </p:sp>
      <p:sp>
        <p:nvSpPr>
          <p:cNvPr id="4" name="Footer Placeholder 3">
            <a:extLst>
              <a:ext uri="{FF2B5EF4-FFF2-40B4-BE49-F238E27FC236}">
                <a16:creationId xmlns:a16="http://schemas.microsoft.com/office/drawing/2014/main" id="{19A2EBF7-C6C5-4541-B47E-7FB413A3DF8C}"/>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20925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613847-6053-FF4A-A422-D886A866F53F}"/>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42510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DC6EF38F-8DF7-3941-B22C-502232E4CB0B}"/>
              </a:ext>
            </a:extLst>
          </p:cNvPr>
          <p:cNvSpPr>
            <a:spLocks noGrp="1" noChangeAspect="1"/>
          </p:cNvSpPr>
          <p:nvPr>
            <p:ph type="pic" idx="13"/>
          </p:nvPr>
        </p:nvSpPr>
        <p:spPr>
          <a:xfrm>
            <a:off x="5098566" y="927100"/>
            <a:ext cx="7093434"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D8C17C1-D75E-7F4A-895D-15D9E2D1D38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1616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a:extLst>
              <a:ext uri="{FF2B5EF4-FFF2-40B4-BE49-F238E27FC236}">
                <a16:creationId xmlns:a16="http://schemas.microsoft.com/office/drawing/2014/main" id="{0CAA554F-B37C-9E47-B5E4-82235D4EC6CD}"/>
              </a:ext>
            </a:extLst>
          </p:cNvPr>
          <p:cNvSpPr>
            <a:spLocks noGrp="1" noChangeAspect="1"/>
          </p:cNvSpPr>
          <p:nvPr>
            <p:ph type="pic" idx="13"/>
          </p:nvPr>
        </p:nvSpPr>
        <p:spPr>
          <a:xfrm>
            <a:off x="5114631" y="934720"/>
            <a:ext cx="7077369" cy="306467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8" name="Picture Placeholder 2">
            <a:extLst>
              <a:ext uri="{FF2B5EF4-FFF2-40B4-BE49-F238E27FC236}">
                <a16:creationId xmlns:a16="http://schemas.microsoft.com/office/drawing/2014/main" id="{9F5FDDA2-E7AF-294B-ACDF-BDB5997277BC}"/>
              </a:ext>
            </a:extLst>
          </p:cNvPr>
          <p:cNvSpPr>
            <a:spLocks noGrp="1" noChangeAspect="1"/>
          </p:cNvSpPr>
          <p:nvPr>
            <p:ph type="pic" idx="14"/>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9" name="Picture Placeholder 2">
            <a:extLst>
              <a:ext uri="{FF2B5EF4-FFF2-40B4-BE49-F238E27FC236}">
                <a16:creationId xmlns:a16="http://schemas.microsoft.com/office/drawing/2014/main" id="{F2499D1A-BF4E-8444-BF94-86863CA11648}"/>
              </a:ext>
            </a:extLst>
          </p:cNvPr>
          <p:cNvSpPr>
            <a:spLocks noGrp="1" noChangeAspect="1"/>
          </p:cNvSpPr>
          <p:nvPr>
            <p:ph type="pic" idx="15"/>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10" name="Footer Placeholder 9">
            <a:extLst>
              <a:ext uri="{FF2B5EF4-FFF2-40B4-BE49-F238E27FC236}">
                <a16:creationId xmlns:a16="http://schemas.microsoft.com/office/drawing/2014/main" id="{2F90DAFF-101D-E948-A7EE-D57686CEB2DD}"/>
              </a:ext>
            </a:extLst>
          </p:cNvPr>
          <p:cNvSpPr>
            <a:spLocks noGrp="1"/>
          </p:cNvSpPr>
          <p:nvPr>
            <p:ph type="ftr" sz="quarter" idx="16"/>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54085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47F2-B572-1341-97A2-03F799FC1CDE}"/>
              </a:ext>
            </a:extLst>
          </p:cNvPr>
          <p:cNvSpPr>
            <a:spLocks noGrp="1"/>
          </p:cNvSpPr>
          <p:nvPr>
            <p:ph type="title"/>
          </p:nvPr>
        </p:nvSpPr>
        <p:spPr/>
        <p:txBody>
          <a:bodyPr/>
          <a:lstStyle/>
          <a:p>
            <a:r>
              <a:rPr lang="en-US" dirty="0"/>
              <a:t>Click to edit</a:t>
            </a:r>
          </a:p>
        </p:txBody>
      </p:sp>
      <p:sp>
        <p:nvSpPr>
          <p:cNvPr id="3" name="Picture Placeholder 2">
            <a:extLst>
              <a:ext uri="{FF2B5EF4-FFF2-40B4-BE49-F238E27FC236}">
                <a16:creationId xmlns:a16="http://schemas.microsoft.com/office/drawing/2014/main" id="{CB21EA68-2B0A-7648-9710-0081FFDD7D68}"/>
              </a:ext>
            </a:extLst>
          </p:cNvPr>
          <p:cNvSpPr>
            <a:spLocks noGrp="1" noChangeAspect="1"/>
          </p:cNvSpPr>
          <p:nvPr>
            <p:ph type="pic" idx="13"/>
          </p:nvPr>
        </p:nvSpPr>
        <p:spPr>
          <a:xfrm>
            <a:off x="0" y="927100"/>
            <a:ext cx="12192000"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5" name="Footer Placeholder 4">
            <a:extLst>
              <a:ext uri="{FF2B5EF4-FFF2-40B4-BE49-F238E27FC236}">
                <a16:creationId xmlns:a16="http://schemas.microsoft.com/office/drawing/2014/main" id="{7D1C2F5B-0BEC-1B48-AF19-F70CBF88DDD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60458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a:extLst>
              <a:ext uri="{FF2B5EF4-FFF2-40B4-BE49-F238E27FC236}">
                <a16:creationId xmlns:a16="http://schemas.microsoft.com/office/drawing/2014/main" id="{7B782143-2792-E14B-AE51-0FFA9028EB8A}"/>
              </a:ext>
            </a:extLst>
          </p:cNvPr>
          <p:cNvSpPr>
            <a:spLocks noGrp="1"/>
          </p:cNvSpPr>
          <p:nvPr>
            <p:ph type="chart" sz="quarter" idx="16"/>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latin typeface="Arial" charset="0"/>
                <a:ea typeface="Arial" charset="0"/>
                <a:cs typeface="Arial" charset="0"/>
              </a:defRPr>
            </a:lvl1pPr>
          </a:lstStyle>
          <a:p>
            <a:endParaRPr lang="en-US" dirty="0"/>
          </a:p>
          <a:p>
            <a:r>
              <a:rPr lang="en-US" dirty="0"/>
              <a:t>Drag chart to placeholder or click icon to add chart</a:t>
            </a:r>
          </a:p>
          <a:p>
            <a:endParaRPr lang="en-US" dirty="0"/>
          </a:p>
        </p:txBody>
      </p:sp>
      <p:sp>
        <p:nvSpPr>
          <p:cNvPr id="8" name="Footer Placeholder 7">
            <a:extLst>
              <a:ext uri="{FF2B5EF4-FFF2-40B4-BE49-F238E27FC236}">
                <a16:creationId xmlns:a16="http://schemas.microsoft.com/office/drawing/2014/main" id="{EEFBFC18-7AE9-1C44-9039-61F804A6140A}"/>
              </a:ext>
            </a:extLst>
          </p:cNvPr>
          <p:cNvSpPr>
            <a:spLocks noGrp="1"/>
          </p:cNvSpPr>
          <p:nvPr>
            <p:ph type="ftr" sz="quarter" idx="17"/>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61249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1614BA-85C5-BA49-A402-F7BCCCDB2C4F}"/>
              </a:ext>
            </a:extLst>
          </p:cNvPr>
          <p:cNvSpPr>
            <a:spLocks noGrp="1"/>
          </p:cNvSpPr>
          <p:nvPr>
            <p:ph type="title"/>
          </p:nvPr>
        </p:nvSpPr>
        <p:spPr>
          <a:xfrm>
            <a:off x="566928" y="1499616"/>
            <a:ext cx="10515600" cy="590931"/>
          </a:xfrm>
          <a:prstGeom prst="rect">
            <a:avLst/>
          </a:prstGeom>
        </p:spPr>
        <p:txBody>
          <a:bodyPr vert="horz" lIns="91440" tIns="45720" rIns="91440" bIns="45720" rtlCol="0" anchor="b"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6A66ADF-AEA5-DC4B-841D-168372B891D6}"/>
              </a:ext>
            </a:extLst>
          </p:cNvPr>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University at Buffalo, The State University of New York logo">
            <a:extLst>
              <a:ext uri="{FF2B5EF4-FFF2-40B4-BE49-F238E27FC236}">
                <a16:creationId xmlns:a16="http://schemas.microsoft.com/office/drawing/2014/main" id="{27B0F206-4721-B742-B71F-C0AADA23A98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
        <p:nvSpPr>
          <p:cNvPr id="5" name="Footer Placeholder 4">
            <a:extLst>
              <a:ext uri="{FF2B5EF4-FFF2-40B4-BE49-F238E27FC236}">
                <a16:creationId xmlns:a16="http://schemas.microsoft.com/office/drawing/2014/main" id="{0BD4790E-48FE-324B-A4AD-34E3A7792E59}"/>
              </a:ext>
            </a:extLst>
          </p:cNvPr>
          <p:cNvSpPr>
            <a:spLocks noGrp="1"/>
          </p:cNvSpPr>
          <p:nvPr>
            <p:ph type="ftr" sz="quarter" idx="3"/>
          </p:nvPr>
        </p:nvSpPr>
        <p:spPr>
          <a:xfrm>
            <a:off x="7574280" y="6319774"/>
            <a:ext cx="4114800" cy="365125"/>
          </a:xfrm>
          <a:prstGeom prst="rect">
            <a:avLst/>
          </a:prstGeom>
        </p:spPr>
        <p:txBody>
          <a:bodyPr vert="horz" lIns="91440" tIns="45720" rIns="91440" bIns="45720" rtlCol="0" anchor="ctr"/>
          <a:lstStyle>
            <a:lvl1pPr algn="r">
              <a:defRPr sz="1600" b="1">
                <a:solidFill>
                  <a:schemeClr val="tx1"/>
                </a:solidFill>
              </a:defRPr>
            </a:lvl1p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93797148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50" r:id="rId3"/>
    <p:sldLayoutId id="2147483664" r:id="rId4"/>
    <p:sldLayoutId id="2147483652" r:id="rId5"/>
    <p:sldLayoutId id="2147483653" r:id="rId6"/>
    <p:sldLayoutId id="2147483654" r:id="rId7"/>
    <p:sldLayoutId id="2147483655" r:id="rId8"/>
    <p:sldLayoutId id="2147483665" r:id="rId9"/>
    <p:sldLayoutId id="2147483666" r:id="rId10"/>
    <p:sldLayoutId id="2147483660" r:id="rId11"/>
    <p:sldLayoutId id="2147483667" r:id="rId12"/>
  </p:sldLayoutIdLst>
  <p:hf hd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esentation Title">
            <a:extLst>
              <a:ext uri="{FF2B5EF4-FFF2-40B4-BE49-F238E27FC236}">
                <a16:creationId xmlns:a16="http://schemas.microsoft.com/office/drawing/2014/main" id="{1089AC9A-5D7D-5A4C-8605-7607252D4FA1}"/>
              </a:ext>
            </a:extLst>
          </p:cNvPr>
          <p:cNvSpPr>
            <a:spLocks noGrp="1"/>
          </p:cNvSpPr>
          <p:nvPr>
            <p:ph type="ctrTitle"/>
          </p:nvPr>
        </p:nvSpPr>
        <p:spPr>
          <a:xfrm>
            <a:off x="625448" y="802432"/>
            <a:ext cx="6498922" cy="4445617"/>
          </a:xfrm>
        </p:spPr>
        <p:txBody>
          <a:bodyPr/>
          <a:lstStyle/>
          <a:p>
            <a:r>
              <a:rPr lang="en-IN" sz="4800" dirty="0"/>
              <a:t>INTELLIGENT REMOTE HEALTHCARE AND ASSISTED LIVING ECOSYSTEM</a:t>
            </a:r>
            <a:endParaRPr lang="en-US" sz="48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E47CE931-39E1-850E-41A2-9B323EFA2783}"/>
              </a:ext>
            </a:extLst>
          </p:cNvPr>
          <p:cNvSpPr/>
          <p:nvPr/>
        </p:nvSpPr>
        <p:spPr>
          <a:xfrm>
            <a:off x="7355840" y="619760"/>
            <a:ext cx="4836160" cy="6238240"/>
          </a:xfrm>
          <a:prstGeom prst="rect">
            <a:avLst/>
          </a:prstGeom>
          <a:solidFill>
            <a:schemeClr val="accent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Knowledge Institute of Technology – Salem Tamilnadu">
            <a:extLst>
              <a:ext uri="{FF2B5EF4-FFF2-40B4-BE49-F238E27FC236}">
                <a16:creationId xmlns:a16="http://schemas.microsoft.com/office/drawing/2014/main" id="{738880D4-E34B-E552-59E7-F03949CCE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8780" y="1590390"/>
            <a:ext cx="3479958" cy="34799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F1A4ABE-3FDA-6EFC-91AC-72D2BF3BD196}"/>
              </a:ext>
            </a:extLst>
          </p:cNvPr>
          <p:cNvSpPr/>
          <p:nvPr/>
        </p:nvSpPr>
        <p:spPr>
          <a:xfrm>
            <a:off x="0" y="5924991"/>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spTree>
    <p:extLst>
      <p:ext uri="{BB962C8B-B14F-4D97-AF65-F5344CB8AC3E}">
        <p14:creationId xmlns:p14="http://schemas.microsoft.com/office/powerpoint/2010/main" val="407818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a:extLst>
              <a:ext uri="{FF2B5EF4-FFF2-40B4-BE49-F238E27FC236}">
                <a16:creationId xmlns:a16="http://schemas.microsoft.com/office/drawing/2014/main" id="{4603F0F3-CF76-774D-86D8-DB88B362524A}"/>
              </a:ext>
            </a:extLst>
          </p:cNvPr>
          <p:cNvSpPr>
            <a:spLocks noGrp="1"/>
          </p:cNvSpPr>
          <p:nvPr>
            <p:ph type="ftr" sz="quarter" idx="10"/>
          </p:nvPr>
        </p:nvSpPr>
        <p:spPr/>
        <p:txBody>
          <a:bodyPr/>
          <a:lstStyle/>
          <a:p>
            <a:fld id="{2E1B3BED-EDDA-2E42-813F-F157009AF3C2}" type="slidenum">
              <a:rPr lang="en-US" smtClean="0"/>
              <a:t>2</a:t>
            </a:fld>
            <a:endParaRPr lang="en-US" dirty="0"/>
          </a:p>
        </p:txBody>
      </p:sp>
      <p:sp>
        <p:nvSpPr>
          <p:cNvPr id="9" name="Content Placeholder 8">
            <a:extLst>
              <a:ext uri="{FF2B5EF4-FFF2-40B4-BE49-F238E27FC236}">
                <a16:creationId xmlns:a16="http://schemas.microsoft.com/office/drawing/2014/main" id="{4D6A913C-1F80-C2E7-2C11-FAC7D7E5E2BC}"/>
              </a:ext>
            </a:extLst>
          </p:cNvPr>
          <p:cNvSpPr>
            <a:spLocks noGrp="1"/>
          </p:cNvSpPr>
          <p:nvPr>
            <p:ph idx="1"/>
          </p:nvPr>
        </p:nvSpPr>
        <p:spPr>
          <a:xfrm>
            <a:off x="502920" y="1119323"/>
            <a:ext cx="10799411" cy="5352597"/>
          </a:xfrm>
        </p:spPr>
        <p:txBody>
          <a:bodyPr/>
          <a:lstStyle/>
          <a:p>
            <a:pPr>
              <a:lnSpc>
                <a:spcPct val="100000"/>
              </a:lnSpc>
            </a:pPr>
            <a:r>
              <a:rPr lang="en-IN" sz="2000" b="1" dirty="0"/>
              <a:t>OBJECTIVE</a:t>
            </a:r>
            <a:endParaRPr lang="en-IN" sz="2000" dirty="0"/>
          </a:p>
          <a:p>
            <a:pPr lvl="0">
              <a:lnSpc>
                <a:spcPct val="100000"/>
              </a:lnSpc>
            </a:pPr>
            <a:r>
              <a:rPr lang="en-IN" sz="2000" dirty="0"/>
              <a:t>Continuously monitor elderly and chronically ill patients remotely. </a:t>
            </a:r>
          </a:p>
          <a:p>
            <a:pPr lvl="0">
              <a:lnSpc>
                <a:spcPct val="100000"/>
              </a:lnSpc>
            </a:pPr>
            <a:r>
              <a:rPr lang="en-IN" sz="2000" dirty="0"/>
              <a:t>Monitor heart rate, SpO₂, temperature and physical activity. </a:t>
            </a:r>
          </a:p>
          <a:p>
            <a:pPr lvl="0">
              <a:lnSpc>
                <a:spcPct val="100000"/>
              </a:lnSpc>
            </a:pPr>
            <a:r>
              <a:rPr lang="en-IN" sz="2000" dirty="0"/>
              <a:t>Detect abnormal health conditions and fall events automatically. </a:t>
            </a:r>
          </a:p>
          <a:p>
            <a:pPr>
              <a:lnSpc>
                <a:spcPct val="100000"/>
              </a:lnSpc>
            </a:pPr>
            <a:r>
              <a:rPr lang="en-IN" sz="2000" b="1" dirty="0"/>
              <a:t>SOLUTION</a:t>
            </a:r>
            <a:endParaRPr lang="en-IN" sz="2000" dirty="0"/>
          </a:p>
          <a:p>
            <a:pPr lvl="0">
              <a:lnSpc>
                <a:spcPct val="100000"/>
              </a:lnSpc>
            </a:pPr>
            <a:r>
              <a:rPr lang="en-IN" sz="2000" dirty="0"/>
              <a:t>Wearable sensors collect patient health data. </a:t>
            </a:r>
          </a:p>
          <a:p>
            <a:pPr lvl="0">
              <a:lnSpc>
                <a:spcPct val="100000"/>
              </a:lnSpc>
            </a:pPr>
            <a:r>
              <a:rPr lang="en-IN" sz="2000" dirty="0"/>
              <a:t>IoT gateway transfers data to the cloud. </a:t>
            </a:r>
          </a:p>
          <a:p>
            <a:pPr lvl="0">
              <a:lnSpc>
                <a:spcPct val="100000"/>
              </a:lnSpc>
            </a:pPr>
            <a:r>
              <a:rPr lang="en-IN" sz="2000" dirty="0"/>
              <a:t>AI analyses vital signs and detects anomalies and falls. </a:t>
            </a:r>
          </a:p>
          <a:p>
            <a:pPr lvl="0">
              <a:lnSpc>
                <a:spcPct val="100000"/>
              </a:lnSpc>
            </a:pPr>
            <a:r>
              <a:rPr lang="en-IN" sz="2000" dirty="0"/>
              <a:t>Caregiver and doctor dashboards provide real-time monitoring. </a:t>
            </a:r>
          </a:p>
          <a:p>
            <a:pPr>
              <a:lnSpc>
                <a:spcPct val="100000"/>
              </a:lnSpc>
            </a:pPr>
            <a:r>
              <a:rPr lang="en-IN" sz="2000" b="1" dirty="0"/>
              <a:t>IMPACT</a:t>
            </a:r>
            <a:endParaRPr lang="en-IN" sz="2000" dirty="0"/>
          </a:p>
          <a:p>
            <a:pPr lvl="0">
              <a:lnSpc>
                <a:spcPct val="100000"/>
              </a:lnSpc>
            </a:pPr>
            <a:r>
              <a:rPr lang="en-IN" sz="2000" dirty="0"/>
              <a:t>Enables continuous out-of-hospital healthcare monitoring. </a:t>
            </a:r>
          </a:p>
          <a:p>
            <a:pPr lvl="0">
              <a:lnSpc>
                <a:spcPct val="100000"/>
              </a:lnSpc>
            </a:pPr>
            <a:r>
              <a:rPr lang="en-IN" sz="2000" dirty="0"/>
              <a:t>Provides rapid emergency alerts. </a:t>
            </a:r>
          </a:p>
          <a:p>
            <a:pPr lvl="0">
              <a:lnSpc>
                <a:spcPct val="100000"/>
              </a:lnSpc>
            </a:pPr>
            <a:r>
              <a:rPr lang="en-IN" sz="2000" dirty="0"/>
              <a:t>Supports medication adherence and health-trend monitoring. </a:t>
            </a:r>
          </a:p>
          <a:p>
            <a:pPr lvl="0">
              <a:lnSpc>
                <a:spcPct val="100000"/>
              </a:lnSpc>
            </a:pPr>
            <a:r>
              <a:rPr lang="en-IN" sz="2000" dirty="0"/>
              <a:t>Reduces the risk of undetected medical emergencies. </a:t>
            </a:r>
          </a:p>
        </p:txBody>
      </p:sp>
      <p:sp>
        <p:nvSpPr>
          <p:cNvPr id="10" name="Rectangle 9">
            <a:extLst>
              <a:ext uri="{FF2B5EF4-FFF2-40B4-BE49-F238E27FC236}">
                <a16:creationId xmlns:a16="http://schemas.microsoft.com/office/drawing/2014/main" id="{8C0A6794-0D44-2C2B-8DDD-F20A931F4B30}"/>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a:extLst>
              <a:ext uri="{FF2B5EF4-FFF2-40B4-BE49-F238E27FC236}">
                <a16:creationId xmlns:a16="http://schemas.microsoft.com/office/drawing/2014/main" id="{109FAC87-EA26-5E89-32E8-FD96E222C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06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93BEC0A6-A5CE-914E-9A9E-BB0E40137093}"/>
              </a:ext>
            </a:extLst>
          </p:cNvPr>
          <p:cNvSpPr>
            <a:spLocks noGrp="1"/>
          </p:cNvSpPr>
          <p:nvPr>
            <p:ph type="title"/>
          </p:nvPr>
        </p:nvSpPr>
        <p:spPr>
          <a:xfrm>
            <a:off x="406907" y="1075342"/>
            <a:ext cx="10515600" cy="625183"/>
          </a:xfrm>
        </p:spPr>
        <p:txBody>
          <a:bodyPr/>
          <a:lstStyle/>
          <a:p>
            <a:r>
              <a:rPr lang="en-US" dirty="0"/>
              <a:t>Engineering Design Process</a:t>
            </a:r>
          </a:p>
        </p:txBody>
      </p:sp>
      <p:sp>
        <p:nvSpPr>
          <p:cNvPr id="3" name="Side Text - Column 1">
            <a:extLst>
              <a:ext uri="{FF2B5EF4-FFF2-40B4-BE49-F238E27FC236}">
                <a16:creationId xmlns:a16="http://schemas.microsoft.com/office/drawing/2014/main" id="{38025F87-E395-E545-BB3A-BF62703CCBBB}"/>
              </a:ext>
            </a:extLst>
          </p:cNvPr>
          <p:cNvSpPr>
            <a:spLocks noGrp="1"/>
          </p:cNvSpPr>
          <p:nvPr>
            <p:ph sz="half" idx="1"/>
          </p:nvPr>
        </p:nvSpPr>
        <p:spPr>
          <a:xfrm>
            <a:off x="386906" y="1818271"/>
            <a:ext cx="12192000" cy="4748882"/>
          </a:xfrm>
        </p:spPr>
        <p:txBody>
          <a:bodyPr/>
          <a:lstStyle/>
          <a:p>
            <a:pPr>
              <a:lnSpc>
                <a:spcPct val="100000"/>
              </a:lnSpc>
            </a:pPr>
            <a:r>
              <a:rPr lang="en-IN" sz="2000" b="1" dirty="0"/>
              <a:t>REQUIREMENT &amp; PLANNING</a:t>
            </a:r>
            <a:endParaRPr lang="en-IN" sz="2000" dirty="0"/>
          </a:p>
          <a:p>
            <a:pPr lvl="0">
              <a:lnSpc>
                <a:spcPct val="100000"/>
              </a:lnSpc>
            </a:pPr>
            <a:r>
              <a:rPr lang="en-IN" sz="2000" dirty="0"/>
              <a:t>Identified the need for continuous remote monitoring. </a:t>
            </a:r>
          </a:p>
          <a:p>
            <a:pPr lvl="0">
              <a:lnSpc>
                <a:spcPct val="100000"/>
              </a:lnSpc>
            </a:pPr>
            <a:r>
              <a:rPr lang="en-IN" sz="2000" dirty="0"/>
              <a:t>Defined requirements for sensing, alerts and assisted living. </a:t>
            </a:r>
          </a:p>
          <a:p>
            <a:pPr>
              <a:lnSpc>
                <a:spcPct val="100000"/>
              </a:lnSpc>
            </a:pPr>
            <a:r>
              <a:rPr lang="en-IN" sz="2000" b="1" dirty="0"/>
              <a:t>DEVELOPMENT</a:t>
            </a:r>
            <a:endParaRPr lang="en-IN" sz="2000" dirty="0"/>
          </a:p>
          <a:p>
            <a:pPr lvl="0">
              <a:lnSpc>
                <a:spcPct val="100000"/>
              </a:lnSpc>
            </a:pPr>
            <a:r>
              <a:rPr lang="en-IN" sz="2000" dirty="0"/>
              <a:t>Developed wearable sensing and IoT communication modules. </a:t>
            </a:r>
          </a:p>
          <a:p>
            <a:pPr lvl="0">
              <a:lnSpc>
                <a:spcPct val="100000"/>
              </a:lnSpc>
            </a:pPr>
            <a:r>
              <a:rPr lang="en-IN" sz="2000" dirty="0"/>
              <a:t>Implemented AI anomaly detection and fall detection. </a:t>
            </a:r>
          </a:p>
          <a:p>
            <a:pPr>
              <a:lnSpc>
                <a:spcPct val="100000"/>
              </a:lnSpc>
            </a:pPr>
            <a:r>
              <a:rPr lang="en-IN" sz="2000" b="1" dirty="0"/>
              <a:t>INTEGRATION</a:t>
            </a:r>
            <a:endParaRPr lang="en-IN" sz="2000" dirty="0"/>
          </a:p>
          <a:p>
            <a:pPr lvl="0">
              <a:lnSpc>
                <a:spcPct val="100000"/>
              </a:lnSpc>
            </a:pPr>
            <a:r>
              <a:rPr lang="en-IN" sz="2000" dirty="0"/>
              <a:t>Connected sensors, gateway, cloud, AI, notifications and dashboards. </a:t>
            </a:r>
          </a:p>
          <a:p>
            <a:pPr>
              <a:lnSpc>
                <a:spcPct val="100000"/>
              </a:lnSpc>
            </a:pPr>
            <a:r>
              <a:rPr lang="en-IN" sz="2000" b="1" dirty="0"/>
              <a:t>TESTING &amp; VALIDATION</a:t>
            </a:r>
            <a:endParaRPr lang="en-IN" sz="2000" dirty="0"/>
          </a:p>
          <a:p>
            <a:pPr lvl="0">
              <a:lnSpc>
                <a:spcPct val="100000"/>
              </a:lnSpc>
            </a:pPr>
            <a:r>
              <a:rPr lang="en-IN" sz="2000" dirty="0"/>
              <a:t>Performed functional, module-level and integration testing. </a:t>
            </a:r>
          </a:p>
          <a:p>
            <a:pPr lvl="0">
              <a:lnSpc>
                <a:spcPct val="100000"/>
              </a:lnSpc>
            </a:pPr>
            <a:r>
              <a:rPr lang="en-IN" sz="2000" dirty="0"/>
              <a:t>Verified monitoring, alerts, medication and reporting functions. </a:t>
            </a:r>
          </a:p>
          <a:p>
            <a:pPr lvl="0">
              <a:lnSpc>
                <a:spcPct val="100000"/>
              </a:lnSpc>
            </a:pPr>
            <a:endParaRPr lang="en-IN" sz="2000" dirty="0"/>
          </a:p>
        </p:txBody>
      </p:sp>
      <p:sp>
        <p:nvSpPr>
          <p:cNvPr id="15" name="Slide Number">
            <a:extLst>
              <a:ext uri="{FF2B5EF4-FFF2-40B4-BE49-F238E27FC236}">
                <a16:creationId xmlns:a16="http://schemas.microsoft.com/office/drawing/2014/main" id="{A6790C53-F8BB-DF4A-8361-919F8B7F69D9}"/>
              </a:ext>
            </a:extLst>
          </p:cNvPr>
          <p:cNvSpPr>
            <a:spLocks noGrp="1"/>
          </p:cNvSpPr>
          <p:nvPr>
            <p:ph type="ftr" sz="quarter" idx="10"/>
          </p:nvPr>
        </p:nvSpPr>
        <p:spPr/>
        <p:txBody>
          <a:bodyPr/>
          <a:lstStyle/>
          <a:p>
            <a:fld id="{7FF4D5E0-956F-9742-9135-6CCBA6AE77D9}" type="slidenum">
              <a:rPr lang="en-US" smtClean="0"/>
              <a:t>3</a:t>
            </a:fld>
            <a:endParaRPr lang="en-US" dirty="0"/>
          </a:p>
        </p:txBody>
      </p:sp>
      <p:sp>
        <p:nvSpPr>
          <p:cNvPr id="5" name="Rectangle 4">
            <a:extLst>
              <a:ext uri="{FF2B5EF4-FFF2-40B4-BE49-F238E27FC236}">
                <a16:creationId xmlns:a16="http://schemas.microsoft.com/office/drawing/2014/main" id="{D92C6FD2-673C-D83E-C716-1C989A6761E8}"/>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15E68AEA-E1B7-F441-CC54-52CAA052A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96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88DBE833-A922-5747-A36B-4314D3116822}"/>
              </a:ext>
            </a:extLst>
          </p:cNvPr>
          <p:cNvSpPr>
            <a:spLocks noGrp="1"/>
          </p:cNvSpPr>
          <p:nvPr>
            <p:ph type="title"/>
          </p:nvPr>
        </p:nvSpPr>
        <p:spPr>
          <a:xfrm>
            <a:off x="566928" y="1004869"/>
            <a:ext cx="6951472" cy="590931"/>
          </a:xfrm>
        </p:spPr>
        <p:txBody>
          <a:bodyPr/>
          <a:lstStyle/>
          <a:p>
            <a:r>
              <a:rPr lang="en-US" dirty="0"/>
              <a:t>Process Table</a:t>
            </a:r>
          </a:p>
        </p:txBody>
      </p:sp>
      <p:sp>
        <p:nvSpPr>
          <p:cNvPr id="8" name="Slide Number">
            <a:extLst>
              <a:ext uri="{FF2B5EF4-FFF2-40B4-BE49-F238E27FC236}">
                <a16:creationId xmlns:a16="http://schemas.microsoft.com/office/drawing/2014/main" id="{1E758566-FAE7-1B41-AABE-FDB3CDFB0BC2}"/>
              </a:ext>
            </a:extLst>
          </p:cNvPr>
          <p:cNvSpPr>
            <a:spLocks noGrp="1"/>
          </p:cNvSpPr>
          <p:nvPr>
            <p:ph type="ftr" sz="quarter" idx="10"/>
          </p:nvPr>
        </p:nvSpPr>
        <p:spPr/>
        <p:txBody>
          <a:bodyPr/>
          <a:lstStyle/>
          <a:p>
            <a:fld id="{FF97EF4A-40C6-024D-A945-B03D1BBD02F7}" type="slidenum">
              <a:rPr lang="en-US" smtClean="0"/>
              <a:t>4</a:t>
            </a:fld>
            <a:endParaRPr lang="en-US" dirty="0"/>
          </a:p>
        </p:txBody>
      </p:sp>
      <p:sp>
        <p:nvSpPr>
          <p:cNvPr id="6" name="Rectangle 5">
            <a:extLst>
              <a:ext uri="{FF2B5EF4-FFF2-40B4-BE49-F238E27FC236}">
                <a16:creationId xmlns:a16="http://schemas.microsoft.com/office/drawing/2014/main" id="{0EAA5F49-DDB8-A757-9699-BF1EF25BB02F}"/>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7" name="Picture 2" descr="Knowledge Institute of Technology – Salem Tamilnadu">
            <a:extLst>
              <a:ext uri="{FF2B5EF4-FFF2-40B4-BE49-F238E27FC236}">
                <a16:creationId xmlns:a16="http://schemas.microsoft.com/office/drawing/2014/main" id="{A354C783-D22D-33EA-3878-74D4D2294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5" name="Content Placeholder 14">
            <a:extLst>
              <a:ext uri="{FF2B5EF4-FFF2-40B4-BE49-F238E27FC236}">
                <a16:creationId xmlns:a16="http://schemas.microsoft.com/office/drawing/2014/main" id="{A97F14E3-A359-E23E-C354-54511F20E804}"/>
              </a:ext>
            </a:extLst>
          </p:cNvPr>
          <p:cNvGraphicFramePr>
            <a:graphicFrameLocks noGrp="1"/>
          </p:cNvGraphicFramePr>
          <p:nvPr>
            <p:ph idx="1"/>
            <p:extLst>
              <p:ext uri="{D42A27DB-BD31-4B8C-83A1-F6EECF244321}">
                <p14:modId xmlns:p14="http://schemas.microsoft.com/office/powerpoint/2010/main" val="42985941"/>
              </p:ext>
            </p:extLst>
          </p:nvPr>
        </p:nvGraphicFramePr>
        <p:xfrm>
          <a:off x="1610089" y="1632966"/>
          <a:ext cx="9726126" cy="4758120"/>
        </p:xfrm>
        <a:graphic>
          <a:graphicData uri="http://schemas.openxmlformats.org/drawingml/2006/table">
            <a:tbl>
              <a:tblPr firstRow="1" bandRow="1">
                <a:tableStyleId>{5940675A-B579-460E-94D1-54222C63F5DA}</a:tableStyleId>
              </a:tblPr>
              <a:tblGrid>
                <a:gridCol w="3242042">
                  <a:extLst>
                    <a:ext uri="{9D8B030D-6E8A-4147-A177-3AD203B41FA5}">
                      <a16:colId xmlns:a16="http://schemas.microsoft.com/office/drawing/2014/main" val="3949215221"/>
                    </a:ext>
                  </a:extLst>
                </a:gridCol>
                <a:gridCol w="3242042">
                  <a:extLst>
                    <a:ext uri="{9D8B030D-6E8A-4147-A177-3AD203B41FA5}">
                      <a16:colId xmlns:a16="http://schemas.microsoft.com/office/drawing/2014/main" val="572228453"/>
                    </a:ext>
                  </a:extLst>
                </a:gridCol>
                <a:gridCol w="3242042">
                  <a:extLst>
                    <a:ext uri="{9D8B030D-6E8A-4147-A177-3AD203B41FA5}">
                      <a16:colId xmlns:a16="http://schemas.microsoft.com/office/drawing/2014/main" val="2152305098"/>
                    </a:ext>
                  </a:extLst>
                </a:gridCol>
              </a:tblGrid>
              <a:tr h="951624">
                <a:tc>
                  <a:txBody>
                    <a:bodyPr/>
                    <a:lstStyle/>
                    <a:p>
                      <a:pPr algn="ctr"/>
                      <a:endParaRPr lang="en-IN" dirty="0"/>
                    </a:p>
                    <a:p>
                      <a:pPr algn="ctr"/>
                      <a:r>
                        <a:rPr lang="en-IN" dirty="0"/>
                        <a:t>PHASE</a:t>
                      </a:r>
                    </a:p>
                  </a:txBody>
                  <a:tcPr/>
                </a:tc>
                <a:tc>
                  <a:txBody>
                    <a:bodyPr/>
                    <a:lstStyle/>
                    <a:p>
                      <a:pPr>
                        <a:buNone/>
                      </a:pPr>
                      <a:r>
                        <a:rPr lang="en-US" dirty="0"/>
                        <a:t>ENGINEERING STEPS</a:t>
                      </a:r>
                      <a:endParaRPr lang="en-IN" dirty="0"/>
                    </a:p>
                  </a:txBody>
                  <a:tcPr anchor="ctr"/>
                </a:tc>
                <a:tc>
                  <a:txBody>
                    <a:bodyPr/>
                    <a:lstStyle/>
                    <a:p>
                      <a:endParaRPr lang="en-IN" dirty="0"/>
                    </a:p>
                    <a:p>
                      <a:r>
                        <a:rPr lang="en-IN" dirty="0"/>
                        <a:t>KEY ACTIVITIES &amp; OUTCOME</a:t>
                      </a:r>
                    </a:p>
                  </a:txBody>
                  <a:tcPr/>
                </a:tc>
                <a:extLst>
                  <a:ext uri="{0D108BD9-81ED-4DB2-BD59-A6C34878D82A}">
                    <a16:rowId xmlns:a16="http://schemas.microsoft.com/office/drawing/2014/main" val="826851102"/>
                  </a:ext>
                </a:extLst>
              </a:tr>
              <a:tr h="951624">
                <a:tc>
                  <a:txBody>
                    <a:bodyPr/>
                    <a:lstStyle/>
                    <a:p>
                      <a:r>
                        <a:rPr lang="en-IN" dirty="0"/>
                        <a:t>Definition</a:t>
                      </a:r>
                    </a:p>
                  </a:txBody>
                  <a:tcPr/>
                </a:tc>
                <a:tc>
                  <a:txBody>
                    <a:bodyPr/>
                    <a:lstStyle/>
                    <a:p>
                      <a:r>
                        <a:rPr lang="en-IN" dirty="0"/>
                        <a:t>Requirement Analysis</a:t>
                      </a:r>
                    </a:p>
                  </a:txBody>
                  <a:tcPr/>
                </a:tc>
                <a:tc>
                  <a:txBody>
                    <a:bodyPr/>
                    <a:lstStyle/>
                    <a:p>
                      <a:r>
                        <a:rPr lang="en-IN" dirty="0"/>
                        <a:t>Identified remote healthcare requirements.</a:t>
                      </a:r>
                    </a:p>
                  </a:txBody>
                  <a:tcPr/>
                </a:tc>
                <a:extLst>
                  <a:ext uri="{0D108BD9-81ED-4DB2-BD59-A6C34878D82A}">
                    <a16:rowId xmlns:a16="http://schemas.microsoft.com/office/drawing/2014/main" val="4165191469"/>
                  </a:ext>
                </a:extLst>
              </a:tr>
              <a:tr h="951624">
                <a:tc>
                  <a:txBody>
                    <a:bodyPr/>
                    <a:lstStyle/>
                    <a:p>
                      <a:r>
                        <a:rPr lang="en-IN" dirty="0"/>
                        <a:t>Development</a:t>
                      </a:r>
                    </a:p>
                  </a:txBody>
                  <a:tcPr/>
                </a:tc>
                <a:tc>
                  <a:txBody>
                    <a:bodyPr/>
                    <a:lstStyle/>
                    <a:p>
                      <a:r>
                        <a:rPr lang="en-IN" dirty="0"/>
                        <a:t>System Design &amp; Development</a:t>
                      </a:r>
                    </a:p>
                  </a:txBody>
                  <a:tcPr/>
                </a:tc>
                <a:tc>
                  <a:txBody>
                    <a:bodyPr/>
                    <a:lstStyle/>
                    <a:p>
                      <a:r>
                        <a:rPr lang="en-IN" dirty="0"/>
                        <a:t>Developed sensing, AI and application modules</a:t>
                      </a:r>
                    </a:p>
                  </a:txBody>
                  <a:tcPr/>
                </a:tc>
                <a:extLst>
                  <a:ext uri="{0D108BD9-81ED-4DB2-BD59-A6C34878D82A}">
                    <a16:rowId xmlns:a16="http://schemas.microsoft.com/office/drawing/2014/main" val="3149011444"/>
                  </a:ext>
                </a:extLst>
              </a:tr>
              <a:tr h="951624">
                <a:tc>
                  <a:txBody>
                    <a:bodyPr/>
                    <a:lstStyle/>
                    <a:p>
                      <a:r>
                        <a:rPr lang="en-IN" dirty="0"/>
                        <a:t>Integration</a:t>
                      </a:r>
                    </a:p>
                  </a:txBody>
                  <a:tcPr/>
                </a:tc>
                <a:tc>
                  <a:txBody>
                    <a:bodyPr/>
                    <a:lstStyle/>
                    <a:p>
                      <a:r>
                        <a:rPr lang="en-IN" dirty="0"/>
                        <a:t>System Integration</a:t>
                      </a:r>
                    </a:p>
                  </a:txBody>
                  <a:tcPr/>
                </a:tc>
                <a:tc>
                  <a:txBody>
                    <a:bodyPr/>
                    <a:lstStyle/>
                    <a:p>
                      <a:r>
                        <a:rPr lang="en-IN" dirty="0"/>
                        <a:t>Connected wearable, gateway, cloud and dashboards</a:t>
                      </a:r>
                    </a:p>
                  </a:txBody>
                  <a:tcPr/>
                </a:tc>
                <a:extLst>
                  <a:ext uri="{0D108BD9-81ED-4DB2-BD59-A6C34878D82A}">
                    <a16:rowId xmlns:a16="http://schemas.microsoft.com/office/drawing/2014/main" val="3668062276"/>
                  </a:ext>
                </a:extLst>
              </a:tr>
              <a:tr h="951624">
                <a:tc>
                  <a:txBody>
                    <a:bodyPr/>
                    <a:lstStyle/>
                    <a:p>
                      <a:r>
                        <a:rPr lang="en-IN" dirty="0"/>
                        <a:t>Realization</a:t>
                      </a:r>
                    </a:p>
                  </a:txBody>
                  <a:tcPr/>
                </a:tc>
                <a:tc>
                  <a:txBody>
                    <a:bodyPr/>
                    <a:lstStyle/>
                    <a:p>
                      <a:r>
                        <a:rPr lang="en-IN" dirty="0"/>
                        <a:t>Testing &amp; Validation</a:t>
                      </a:r>
                    </a:p>
                  </a:txBody>
                  <a:tcPr/>
                </a:tc>
                <a:tc>
                  <a:txBody>
                    <a:bodyPr/>
                    <a:lstStyle/>
                    <a:p>
                      <a:r>
                        <a:rPr lang="en-IN" dirty="0"/>
                        <a:t>Verified complete system functionality</a:t>
                      </a:r>
                    </a:p>
                  </a:txBody>
                  <a:tcPr/>
                </a:tc>
                <a:extLst>
                  <a:ext uri="{0D108BD9-81ED-4DB2-BD59-A6C34878D82A}">
                    <a16:rowId xmlns:a16="http://schemas.microsoft.com/office/drawing/2014/main" val="3709745080"/>
                  </a:ext>
                </a:extLst>
              </a:tr>
            </a:tbl>
          </a:graphicData>
        </a:graphic>
      </p:graphicFrame>
    </p:spTree>
    <p:extLst>
      <p:ext uri="{BB962C8B-B14F-4D97-AF65-F5344CB8AC3E}">
        <p14:creationId xmlns:p14="http://schemas.microsoft.com/office/powerpoint/2010/main" val="339767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A5A6BD9C-352C-594C-84C3-B534C6BE8173}"/>
              </a:ext>
            </a:extLst>
          </p:cNvPr>
          <p:cNvSpPr>
            <a:spLocks noGrp="1"/>
          </p:cNvSpPr>
          <p:nvPr>
            <p:ph type="title"/>
          </p:nvPr>
        </p:nvSpPr>
        <p:spPr>
          <a:xfrm>
            <a:off x="429768" y="1067074"/>
            <a:ext cx="10515600" cy="669553"/>
          </a:xfrm>
        </p:spPr>
        <p:txBody>
          <a:bodyPr/>
          <a:lstStyle/>
          <a:p>
            <a:r>
              <a:rPr lang="en-US" dirty="0"/>
              <a:t>List of Activities</a:t>
            </a:r>
          </a:p>
        </p:txBody>
      </p:sp>
      <p:sp>
        <p:nvSpPr>
          <p:cNvPr id="23" name="Slide Number">
            <a:extLst>
              <a:ext uri="{FF2B5EF4-FFF2-40B4-BE49-F238E27FC236}">
                <a16:creationId xmlns:a16="http://schemas.microsoft.com/office/drawing/2014/main" id="{692346D0-C19D-754C-B7FB-4EEAD59AF4EB}"/>
              </a:ext>
            </a:extLst>
          </p:cNvPr>
          <p:cNvSpPr>
            <a:spLocks noGrp="1"/>
          </p:cNvSpPr>
          <p:nvPr>
            <p:ph type="ftr" sz="quarter" idx="10"/>
          </p:nvPr>
        </p:nvSpPr>
        <p:spPr>
          <a:xfrm>
            <a:off x="7574280" y="6137211"/>
            <a:ext cx="4114800" cy="365125"/>
          </a:xfrm>
        </p:spPr>
        <p:txBody>
          <a:bodyPr/>
          <a:lstStyle/>
          <a:p>
            <a:fld id="{11612D8C-0CE2-8F48-B865-A1C7EEB20945}" type="slidenum">
              <a:rPr lang="en-US" smtClean="0"/>
              <a:t>5</a:t>
            </a:fld>
            <a:endParaRPr lang="en-US" dirty="0"/>
          </a:p>
        </p:txBody>
      </p:sp>
      <p:sp>
        <p:nvSpPr>
          <p:cNvPr id="2" name="Rectangle 1">
            <a:extLst>
              <a:ext uri="{FF2B5EF4-FFF2-40B4-BE49-F238E27FC236}">
                <a16:creationId xmlns:a16="http://schemas.microsoft.com/office/drawing/2014/main" id="{DC1D069B-0F58-C58D-35EC-4C6DB3F00376}"/>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3" name="Picture 2" descr="Knowledge Institute of Technology – Salem Tamilnadu">
            <a:extLst>
              <a:ext uri="{FF2B5EF4-FFF2-40B4-BE49-F238E27FC236}">
                <a16:creationId xmlns:a16="http://schemas.microsoft.com/office/drawing/2014/main" id="{CE1C2C29-CE5B-056E-24FC-D9D195ED3E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F1D36BFF-0743-C505-AFF7-931347247746}"/>
              </a:ext>
            </a:extLst>
          </p:cNvPr>
          <p:cNvSpPr>
            <a:spLocks noGrp="1"/>
          </p:cNvSpPr>
          <p:nvPr>
            <p:ph sz="half" idx="2"/>
          </p:nvPr>
        </p:nvSpPr>
        <p:spPr>
          <a:xfrm>
            <a:off x="429768" y="1869517"/>
            <a:ext cx="11762233" cy="4880679"/>
          </a:xfrm>
        </p:spPr>
        <p:txBody>
          <a:bodyPr/>
          <a:lstStyle/>
          <a:p>
            <a:pPr>
              <a:lnSpc>
                <a:spcPct val="100000"/>
              </a:lnSpc>
            </a:pPr>
            <a:r>
              <a:rPr lang="en-IN" sz="2000" b="1" dirty="0"/>
              <a:t>Literature Survey</a:t>
            </a:r>
            <a:br>
              <a:rPr lang="en-IN" sz="2000" dirty="0"/>
            </a:br>
            <a:r>
              <a:rPr lang="en-IN" sz="2000" dirty="0"/>
              <a:t>Studied IoT health monitoring, wearable sensors, AI analytics and fall detection.</a:t>
            </a:r>
          </a:p>
          <a:p>
            <a:pPr>
              <a:lnSpc>
                <a:spcPct val="100000"/>
              </a:lnSpc>
            </a:pPr>
            <a:r>
              <a:rPr lang="en-IN" sz="2000" b="1" dirty="0"/>
              <a:t>Requirement Analysis</a:t>
            </a:r>
            <a:br>
              <a:rPr lang="en-IN" sz="2000" dirty="0"/>
            </a:br>
            <a:r>
              <a:rPr lang="en-IN" sz="2000" dirty="0"/>
              <a:t>Identified requirements for continuous sensing, alerts and remote monitoring.</a:t>
            </a:r>
          </a:p>
          <a:p>
            <a:pPr>
              <a:lnSpc>
                <a:spcPct val="100000"/>
              </a:lnSpc>
            </a:pPr>
            <a:r>
              <a:rPr lang="en-IN" sz="2000" b="1" dirty="0"/>
              <a:t>Technology Selection</a:t>
            </a:r>
            <a:br>
              <a:rPr lang="en-IN" sz="2000" dirty="0"/>
            </a:br>
            <a:r>
              <a:rPr lang="en-IN" sz="2000" dirty="0"/>
              <a:t>Selected ESP32, BLE, Wi-Fi/MQTT, React, Node.js, Firebase and AI services.</a:t>
            </a:r>
          </a:p>
          <a:p>
            <a:pPr>
              <a:lnSpc>
                <a:spcPct val="100000"/>
              </a:lnSpc>
            </a:pPr>
            <a:r>
              <a:rPr lang="en-IN" sz="2000" b="1" dirty="0"/>
              <a:t>System Development</a:t>
            </a:r>
            <a:br>
              <a:rPr lang="en-IN" sz="2000" dirty="0"/>
            </a:br>
            <a:r>
              <a:rPr lang="en-IN" sz="2000" dirty="0"/>
              <a:t>Developed sensor, gateway, backend, AI and dashboard modules.</a:t>
            </a:r>
          </a:p>
          <a:p>
            <a:pPr>
              <a:lnSpc>
                <a:spcPct val="100000"/>
              </a:lnSpc>
            </a:pPr>
            <a:r>
              <a:rPr lang="en-IN" sz="2000" b="1" dirty="0"/>
              <a:t>System Integration</a:t>
            </a:r>
            <a:br>
              <a:rPr lang="en-IN" sz="2000" dirty="0"/>
            </a:br>
            <a:r>
              <a:rPr lang="en-IN" sz="2000" dirty="0"/>
              <a:t>Integrated authentication, cloud database, alerts, medication and reporting.</a:t>
            </a:r>
          </a:p>
          <a:p>
            <a:pPr>
              <a:lnSpc>
                <a:spcPct val="100000"/>
              </a:lnSpc>
            </a:pPr>
            <a:r>
              <a:rPr lang="en-IN" sz="2000" b="1" dirty="0"/>
              <a:t>Testing &amp; Validation</a:t>
            </a:r>
            <a:br>
              <a:rPr lang="en-IN" sz="2000" dirty="0"/>
            </a:br>
            <a:r>
              <a:rPr lang="en-IN" sz="2000" dirty="0"/>
              <a:t>Performed functional, module and end-to-end integration testing. </a:t>
            </a:r>
          </a:p>
          <a:p>
            <a:pPr algn="just"/>
            <a:endParaRPr lang="en-IN" sz="2000" dirty="0"/>
          </a:p>
        </p:txBody>
      </p:sp>
    </p:spTree>
    <p:extLst>
      <p:ext uri="{BB962C8B-B14F-4D97-AF65-F5344CB8AC3E}">
        <p14:creationId xmlns:p14="http://schemas.microsoft.com/office/powerpoint/2010/main" val="1082579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3AC14BE6-0C46-714B-B7A3-48A9E49BAF81}"/>
              </a:ext>
            </a:extLst>
          </p:cNvPr>
          <p:cNvSpPr>
            <a:spLocks noGrp="1"/>
          </p:cNvSpPr>
          <p:nvPr>
            <p:ph type="title"/>
          </p:nvPr>
        </p:nvSpPr>
        <p:spPr>
          <a:xfrm>
            <a:off x="566927" y="1123116"/>
            <a:ext cx="6701973" cy="622569"/>
          </a:xfrm>
        </p:spPr>
        <p:txBody>
          <a:bodyPr/>
          <a:lstStyle/>
          <a:p>
            <a:r>
              <a:rPr lang="en-US" dirty="0"/>
              <a:t>Activity Duration Table</a:t>
            </a:r>
          </a:p>
        </p:txBody>
      </p:sp>
      <p:graphicFrame>
        <p:nvGraphicFramePr>
          <p:cNvPr id="8" name="Content Placeholder 7">
            <a:extLst>
              <a:ext uri="{FF2B5EF4-FFF2-40B4-BE49-F238E27FC236}">
                <a16:creationId xmlns:a16="http://schemas.microsoft.com/office/drawing/2014/main" id="{B774AD43-9463-CEF5-FDB4-742E929F80CF}"/>
              </a:ext>
            </a:extLst>
          </p:cNvPr>
          <p:cNvGraphicFramePr>
            <a:graphicFrameLocks noGrp="1"/>
          </p:cNvGraphicFramePr>
          <p:nvPr>
            <p:ph idx="1"/>
            <p:extLst>
              <p:ext uri="{D42A27DB-BD31-4B8C-83A1-F6EECF244321}">
                <p14:modId xmlns:p14="http://schemas.microsoft.com/office/powerpoint/2010/main" val="67599611"/>
              </p:ext>
            </p:extLst>
          </p:nvPr>
        </p:nvGraphicFramePr>
        <p:xfrm>
          <a:off x="705822" y="1923092"/>
          <a:ext cx="9352577" cy="4091625"/>
        </p:xfrm>
        <a:graphic>
          <a:graphicData uri="http://schemas.openxmlformats.org/drawingml/2006/table">
            <a:tbl>
              <a:tblPr>
                <a:tableStyleId>{616DA210-FB5B-4158-B5E0-FEB733F419BA}</a:tableStyleId>
              </a:tblPr>
              <a:tblGrid>
                <a:gridCol w="778200">
                  <a:extLst>
                    <a:ext uri="{9D8B030D-6E8A-4147-A177-3AD203B41FA5}">
                      <a16:colId xmlns:a16="http://schemas.microsoft.com/office/drawing/2014/main" val="1229741313"/>
                    </a:ext>
                  </a:extLst>
                </a:gridCol>
                <a:gridCol w="5292743">
                  <a:extLst>
                    <a:ext uri="{9D8B030D-6E8A-4147-A177-3AD203B41FA5}">
                      <a16:colId xmlns:a16="http://schemas.microsoft.com/office/drawing/2014/main" val="1239087719"/>
                    </a:ext>
                  </a:extLst>
                </a:gridCol>
                <a:gridCol w="3281634">
                  <a:extLst>
                    <a:ext uri="{9D8B030D-6E8A-4147-A177-3AD203B41FA5}">
                      <a16:colId xmlns:a16="http://schemas.microsoft.com/office/drawing/2014/main" val="4199366196"/>
                    </a:ext>
                  </a:extLst>
                </a:gridCol>
              </a:tblGrid>
              <a:tr h="454625">
                <a:tc>
                  <a:txBody>
                    <a:bodyPr/>
                    <a:lstStyle/>
                    <a:p>
                      <a:pPr algn="ctr">
                        <a:buNone/>
                      </a:pPr>
                      <a:r>
                        <a:rPr lang="en-IN" b="1" dirty="0"/>
                        <a:t>ID</a:t>
                      </a:r>
                      <a:endParaRPr lang="en-IN" dirty="0"/>
                    </a:p>
                  </a:txBody>
                  <a:tcPr anchor="ctr"/>
                </a:tc>
                <a:tc>
                  <a:txBody>
                    <a:bodyPr/>
                    <a:lstStyle/>
                    <a:p>
                      <a:pPr>
                        <a:buNone/>
                      </a:pPr>
                      <a:r>
                        <a:rPr lang="en-IN" b="1"/>
                        <a:t>Activity Description</a:t>
                      </a:r>
                      <a:endParaRPr lang="en-IN"/>
                    </a:p>
                  </a:txBody>
                  <a:tcPr anchor="ctr"/>
                </a:tc>
                <a:tc>
                  <a:txBody>
                    <a:bodyPr/>
                    <a:lstStyle/>
                    <a:p>
                      <a:pPr algn="ctr">
                        <a:buNone/>
                      </a:pPr>
                      <a:r>
                        <a:rPr lang="en-IN" b="1"/>
                        <a:t>Duration (Hours)</a:t>
                      </a:r>
                      <a:endParaRPr lang="en-IN"/>
                    </a:p>
                  </a:txBody>
                  <a:tcPr anchor="ctr"/>
                </a:tc>
                <a:extLst>
                  <a:ext uri="{0D108BD9-81ED-4DB2-BD59-A6C34878D82A}">
                    <a16:rowId xmlns:a16="http://schemas.microsoft.com/office/drawing/2014/main" val="37195223"/>
                  </a:ext>
                </a:extLst>
              </a:tr>
              <a:tr h="454625">
                <a:tc>
                  <a:txBody>
                    <a:bodyPr/>
                    <a:lstStyle/>
                    <a:p>
                      <a:pPr algn="ctr">
                        <a:buNone/>
                      </a:pPr>
                      <a:r>
                        <a:rPr lang="en-IN"/>
                        <a:t>A</a:t>
                      </a:r>
                    </a:p>
                  </a:txBody>
                  <a:tcPr anchor="ctr"/>
                </a:tc>
                <a:tc>
                  <a:txBody>
                    <a:bodyPr/>
                    <a:lstStyle/>
                    <a:p>
                      <a:pPr>
                        <a:buNone/>
                      </a:pPr>
                      <a:r>
                        <a:rPr lang="en-IN" dirty="0"/>
                        <a:t>Requirement Analysis</a:t>
                      </a:r>
                    </a:p>
                  </a:txBody>
                  <a:tcPr anchor="ctr"/>
                </a:tc>
                <a:tc>
                  <a:txBody>
                    <a:bodyPr/>
                    <a:lstStyle/>
                    <a:p>
                      <a:pPr algn="ctr">
                        <a:buNone/>
                      </a:pPr>
                      <a:r>
                        <a:rPr lang="en-IN" dirty="0"/>
                        <a:t>30</a:t>
                      </a:r>
                    </a:p>
                  </a:txBody>
                  <a:tcPr anchor="ctr"/>
                </a:tc>
                <a:extLst>
                  <a:ext uri="{0D108BD9-81ED-4DB2-BD59-A6C34878D82A}">
                    <a16:rowId xmlns:a16="http://schemas.microsoft.com/office/drawing/2014/main" val="3632619731"/>
                  </a:ext>
                </a:extLst>
              </a:tr>
              <a:tr h="454625">
                <a:tc>
                  <a:txBody>
                    <a:bodyPr/>
                    <a:lstStyle/>
                    <a:p>
                      <a:pPr algn="ctr">
                        <a:buNone/>
                      </a:pPr>
                      <a:r>
                        <a:rPr lang="en-IN"/>
                        <a:t>B</a:t>
                      </a:r>
                    </a:p>
                  </a:txBody>
                  <a:tcPr anchor="ctr"/>
                </a:tc>
                <a:tc>
                  <a:txBody>
                    <a:bodyPr/>
                    <a:lstStyle/>
                    <a:p>
                      <a:pPr>
                        <a:buNone/>
                      </a:pPr>
                      <a:r>
                        <a:rPr lang="en-IN" dirty="0"/>
                        <a:t>Literature Survey</a:t>
                      </a:r>
                    </a:p>
                  </a:txBody>
                  <a:tcPr anchor="ctr"/>
                </a:tc>
                <a:tc>
                  <a:txBody>
                    <a:bodyPr/>
                    <a:lstStyle/>
                    <a:p>
                      <a:pPr algn="ctr">
                        <a:buNone/>
                      </a:pPr>
                      <a:r>
                        <a:rPr lang="en-IN" dirty="0"/>
                        <a:t>25</a:t>
                      </a:r>
                    </a:p>
                  </a:txBody>
                  <a:tcPr anchor="ctr"/>
                </a:tc>
                <a:extLst>
                  <a:ext uri="{0D108BD9-81ED-4DB2-BD59-A6C34878D82A}">
                    <a16:rowId xmlns:a16="http://schemas.microsoft.com/office/drawing/2014/main" val="2726574819"/>
                  </a:ext>
                </a:extLst>
              </a:tr>
              <a:tr h="454625">
                <a:tc>
                  <a:txBody>
                    <a:bodyPr/>
                    <a:lstStyle/>
                    <a:p>
                      <a:pPr algn="ctr">
                        <a:buNone/>
                      </a:pPr>
                      <a:r>
                        <a:rPr lang="en-IN"/>
                        <a:t>C</a:t>
                      </a:r>
                    </a:p>
                  </a:txBody>
                  <a:tcPr anchor="ctr"/>
                </a:tc>
                <a:tc>
                  <a:txBody>
                    <a:bodyPr/>
                    <a:lstStyle/>
                    <a:p>
                      <a:pPr>
                        <a:buNone/>
                      </a:pPr>
                      <a:r>
                        <a:rPr lang="en-IN" dirty="0"/>
                        <a:t>System &amp; UI Design</a:t>
                      </a:r>
                    </a:p>
                  </a:txBody>
                  <a:tcPr anchor="ctr"/>
                </a:tc>
                <a:tc>
                  <a:txBody>
                    <a:bodyPr/>
                    <a:lstStyle/>
                    <a:p>
                      <a:pPr algn="ctr">
                        <a:buNone/>
                      </a:pPr>
                      <a:r>
                        <a:rPr lang="en-IN" dirty="0"/>
                        <a:t>40</a:t>
                      </a:r>
                    </a:p>
                  </a:txBody>
                  <a:tcPr anchor="ctr"/>
                </a:tc>
                <a:extLst>
                  <a:ext uri="{0D108BD9-81ED-4DB2-BD59-A6C34878D82A}">
                    <a16:rowId xmlns:a16="http://schemas.microsoft.com/office/drawing/2014/main" val="3945403924"/>
                  </a:ext>
                </a:extLst>
              </a:tr>
              <a:tr h="454625">
                <a:tc>
                  <a:txBody>
                    <a:bodyPr/>
                    <a:lstStyle/>
                    <a:p>
                      <a:pPr algn="ctr">
                        <a:buNone/>
                      </a:pPr>
                      <a:r>
                        <a:rPr lang="en-IN"/>
                        <a:t>D</a:t>
                      </a:r>
                    </a:p>
                  </a:txBody>
                  <a:tcPr anchor="ctr"/>
                </a:tc>
                <a:tc>
                  <a:txBody>
                    <a:bodyPr/>
                    <a:lstStyle/>
                    <a:p>
                      <a:pPr>
                        <a:buNone/>
                      </a:pPr>
                      <a:r>
                        <a:rPr lang="en-IN" dirty="0"/>
                        <a:t>Software Development</a:t>
                      </a:r>
                    </a:p>
                  </a:txBody>
                  <a:tcPr anchor="ctr"/>
                </a:tc>
                <a:tc>
                  <a:txBody>
                    <a:bodyPr/>
                    <a:lstStyle/>
                    <a:p>
                      <a:pPr algn="ctr">
                        <a:buNone/>
                      </a:pPr>
                      <a:r>
                        <a:rPr lang="en-IN" dirty="0"/>
                        <a:t>55</a:t>
                      </a:r>
                    </a:p>
                  </a:txBody>
                  <a:tcPr anchor="ctr"/>
                </a:tc>
                <a:extLst>
                  <a:ext uri="{0D108BD9-81ED-4DB2-BD59-A6C34878D82A}">
                    <a16:rowId xmlns:a16="http://schemas.microsoft.com/office/drawing/2014/main" val="3638532157"/>
                  </a:ext>
                </a:extLst>
              </a:tr>
              <a:tr h="454625">
                <a:tc>
                  <a:txBody>
                    <a:bodyPr/>
                    <a:lstStyle/>
                    <a:p>
                      <a:pPr algn="ctr">
                        <a:buNone/>
                      </a:pPr>
                      <a:r>
                        <a:rPr lang="en-IN"/>
                        <a:t>E</a:t>
                      </a:r>
                    </a:p>
                  </a:txBody>
                  <a:tcPr anchor="ctr"/>
                </a:tc>
                <a:tc>
                  <a:txBody>
                    <a:bodyPr/>
                    <a:lstStyle/>
                    <a:p>
                      <a:pPr>
                        <a:buNone/>
                      </a:pPr>
                      <a:r>
                        <a:rPr lang="en-IN" dirty="0"/>
                        <a:t>AI / IoT Integration</a:t>
                      </a:r>
                    </a:p>
                  </a:txBody>
                  <a:tcPr anchor="ctr"/>
                </a:tc>
                <a:tc>
                  <a:txBody>
                    <a:bodyPr/>
                    <a:lstStyle/>
                    <a:p>
                      <a:pPr algn="ctr">
                        <a:buNone/>
                      </a:pPr>
                      <a:r>
                        <a:rPr lang="en-US" dirty="0"/>
                        <a:t>3</a:t>
                      </a:r>
                      <a:r>
                        <a:rPr lang="en-IN" dirty="0"/>
                        <a:t>0</a:t>
                      </a:r>
                    </a:p>
                  </a:txBody>
                  <a:tcPr anchor="ctr"/>
                </a:tc>
                <a:extLst>
                  <a:ext uri="{0D108BD9-81ED-4DB2-BD59-A6C34878D82A}">
                    <a16:rowId xmlns:a16="http://schemas.microsoft.com/office/drawing/2014/main" val="1108141785"/>
                  </a:ext>
                </a:extLst>
              </a:tr>
              <a:tr h="454625">
                <a:tc>
                  <a:txBody>
                    <a:bodyPr/>
                    <a:lstStyle/>
                    <a:p>
                      <a:pPr algn="ctr">
                        <a:buNone/>
                      </a:pPr>
                      <a:r>
                        <a:rPr lang="en-IN"/>
                        <a:t>F</a:t>
                      </a:r>
                    </a:p>
                  </a:txBody>
                  <a:tcPr anchor="ctr"/>
                </a:tc>
                <a:tc>
                  <a:txBody>
                    <a:bodyPr/>
                    <a:lstStyle/>
                    <a:p>
                      <a:pPr>
                        <a:buNone/>
                      </a:pPr>
                      <a:r>
                        <a:rPr lang="en-IN" dirty="0"/>
                        <a:t>Testing &amp; Optimization</a:t>
                      </a:r>
                    </a:p>
                  </a:txBody>
                  <a:tcPr anchor="ctr"/>
                </a:tc>
                <a:tc>
                  <a:txBody>
                    <a:bodyPr/>
                    <a:lstStyle/>
                    <a:p>
                      <a:pPr algn="ctr">
                        <a:buNone/>
                      </a:pPr>
                      <a:r>
                        <a:rPr lang="en-US" dirty="0"/>
                        <a:t>4</a:t>
                      </a:r>
                      <a:r>
                        <a:rPr lang="en-IN" dirty="0"/>
                        <a:t>0</a:t>
                      </a:r>
                    </a:p>
                  </a:txBody>
                  <a:tcPr anchor="ctr"/>
                </a:tc>
                <a:extLst>
                  <a:ext uri="{0D108BD9-81ED-4DB2-BD59-A6C34878D82A}">
                    <a16:rowId xmlns:a16="http://schemas.microsoft.com/office/drawing/2014/main" val="3435019158"/>
                  </a:ext>
                </a:extLst>
              </a:tr>
              <a:tr h="454625">
                <a:tc>
                  <a:txBody>
                    <a:bodyPr/>
                    <a:lstStyle/>
                    <a:p>
                      <a:pPr algn="ctr">
                        <a:buNone/>
                      </a:pPr>
                      <a:r>
                        <a:rPr lang="en-IN"/>
                        <a:t>G</a:t>
                      </a:r>
                    </a:p>
                  </a:txBody>
                  <a:tcPr anchor="ctr"/>
                </a:tc>
                <a:tc>
                  <a:txBody>
                    <a:bodyPr/>
                    <a:lstStyle/>
                    <a:p>
                      <a:pPr>
                        <a:buNone/>
                      </a:pPr>
                      <a:r>
                        <a:rPr lang="en-IN" dirty="0"/>
                        <a:t>Documentation &amp; Presentation</a:t>
                      </a:r>
                    </a:p>
                  </a:txBody>
                  <a:tcPr anchor="ctr"/>
                </a:tc>
                <a:tc>
                  <a:txBody>
                    <a:bodyPr/>
                    <a:lstStyle/>
                    <a:p>
                      <a:pPr algn="ctr">
                        <a:buNone/>
                      </a:pPr>
                      <a:r>
                        <a:rPr lang="en-IN" dirty="0"/>
                        <a:t>30</a:t>
                      </a:r>
                    </a:p>
                  </a:txBody>
                  <a:tcPr anchor="ctr"/>
                </a:tc>
                <a:extLst>
                  <a:ext uri="{0D108BD9-81ED-4DB2-BD59-A6C34878D82A}">
                    <a16:rowId xmlns:a16="http://schemas.microsoft.com/office/drawing/2014/main" val="2418512038"/>
                  </a:ext>
                </a:extLst>
              </a:tr>
              <a:tr h="454625">
                <a:tc>
                  <a:txBody>
                    <a:bodyPr/>
                    <a:lstStyle/>
                    <a:p>
                      <a:pPr algn="ctr">
                        <a:buNone/>
                      </a:pPr>
                      <a:r>
                        <a:rPr lang="en-IN" b="1"/>
                        <a:t>Total</a:t>
                      </a:r>
                      <a:endParaRPr lang="en-IN"/>
                    </a:p>
                  </a:txBody>
                  <a:tcPr anchor="ctr"/>
                </a:tc>
                <a:tc>
                  <a:txBody>
                    <a:bodyPr/>
                    <a:lstStyle/>
                    <a:p>
                      <a:pPr>
                        <a:buNone/>
                      </a:pPr>
                      <a:r>
                        <a:rPr lang="en-IN" b="1" dirty="0"/>
                        <a:t>Project Duration</a:t>
                      </a:r>
                      <a:endParaRPr lang="en-IN" dirty="0"/>
                    </a:p>
                  </a:txBody>
                  <a:tcPr anchor="ctr"/>
                </a:tc>
                <a:tc>
                  <a:txBody>
                    <a:bodyPr/>
                    <a:lstStyle/>
                    <a:p>
                      <a:pPr algn="ctr">
                        <a:buNone/>
                      </a:pPr>
                      <a:r>
                        <a:rPr lang="en-IN" b="1" dirty="0"/>
                        <a:t>250 Hours</a:t>
                      </a:r>
                      <a:endParaRPr lang="en-IN" dirty="0"/>
                    </a:p>
                  </a:txBody>
                  <a:tcPr anchor="ctr"/>
                </a:tc>
                <a:extLst>
                  <a:ext uri="{0D108BD9-81ED-4DB2-BD59-A6C34878D82A}">
                    <a16:rowId xmlns:a16="http://schemas.microsoft.com/office/drawing/2014/main" val="2256580414"/>
                  </a:ext>
                </a:extLst>
              </a:tr>
            </a:tbl>
          </a:graphicData>
        </a:graphic>
      </p:graphicFrame>
      <p:sp>
        <p:nvSpPr>
          <p:cNvPr id="5" name="Rectangle 4">
            <a:extLst>
              <a:ext uri="{FF2B5EF4-FFF2-40B4-BE49-F238E27FC236}">
                <a16:creationId xmlns:a16="http://schemas.microsoft.com/office/drawing/2014/main" id="{12435FF2-28C8-2D2D-BDEB-0C5DCD1A98EC}"/>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26419DA3-9A42-55A5-4228-4E21C30A8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732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185F3C10-40FA-5845-8029-D5490ECDA88F}"/>
              </a:ext>
            </a:extLst>
          </p:cNvPr>
          <p:cNvSpPr>
            <a:spLocks noGrp="1"/>
          </p:cNvSpPr>
          <p:nvPr>
            <p:ph type="ftr" sz="quarter" idx="17"/>
          </p:nvPr>
        </p:nvSpPr>
        <p:spPr/>
        <p:txBody>
          <a:bodyPr/>
          <a:lstStyle/>
          <a:p>
            <a:fld id="{85954F8D-B7E6-D640-BC50-D014E954A05D}" type="slidenum">
              <a:rPr lang="en-US" smtClean="0"/>
              <a:t>7</a:t>
            </a:fld>
            <a:endParaRPr lang="en-US" dirty="0"/>
          </a:p>
        </p:txBody>
      </p:sp>
      <p:graphicFrame>
        <p:nvGraphicFramePr>
          <p:cNvPr id="5" name="Content Placeholder 4">
            <a:extLst>
              <a:ext uri="{FF2B5EF4-FFF2-40B4-BE49-F238E27FC236}">
                <a16:creationId xmlns:a16="http://schemas.microsoft.com/office/drawing/2014/main" id="{1B7CF859-D7B2-C75E-7BF1-EBC4C51A9D19}"/>
              </a:ext>
            </a:extLst>
          </p:cNvPr>
          <p:cNvGraphicFramePr>
            <a:graphicFrameLocks noGrp="1"/>
          </p:cNvGraphicFramePr>
          <p:nvPr>
            <p:ph idx="1"/>
            <p:extLst>
              <p:ext uri="{D42A27DB-BD31-4B8C-83A1-F6EECF244321}">
                <p14:modId xmlns:p14="http://schemas.microsoft.com/office/powerpoint/2010/main" val="3877882514"/>
              </p:ext>
            </p:extLst>
          </p:nvPr>
        </p:nvGraphicFramePr>
        <p:xfrm>
          <a:off x="1011365" y="1661684"/>
          <a:ext cx="8449158" cy="5183616"/>
        </p:xfrm>
        <a:graphic>
          <a:graphicData uri="http://schemas.openxmlformats.org/drawingml/2006/table">
            <a:tbl>
              <a:tblPr>
                <a:tableStyleId>{616DA210-FB5B-4158-B5E0-FEB733F419BA}</a:tableStyleId>
              </a:tblPr>
              <a:tblGrid>
                <a:gridCol w="514568">
                  <a:extLst>
                    <a:ext uri="{9D8B030D-6E8A-4147-A177-3AD203B41FA5}">
                      <a16:colId xmlns:a16="http://schemas.microsoft.com/office/drawing/2014/main" val="2880506019"/>
                    </a:ext>
                  </a:extLst>
                </a:gridCol>
                <a:gridCol w="3861613">
                  <a:extLst>
                    <a:ext uri="{9D8B030D-6E8A-4147-A177-3AD203B41FA5}">
                      <a16:colId xmlns:a16="http://schemas.microsoft.com/office/drawing/2014/main" val="1750860139"/>
                    </a:ext>
                  </a:extLst>
                </a:gridCol>
                <a:gridCol w="4072977">
                  <a:extLst>
                    <a:ext uri="{9D8B030D-6E8A-4147-A177-3AD203B41FA5}">
                      <a16:colId xmlns:a16="http://schemas.microsoft.com/office/drawing/2014/main" val="2929902668"/>
                    </a:ext>
                  </a:extLst>
                </a:gridCol>
              </a:tblGrid>
              <a:tr h="392463">
                <a:tc>
                  <a:txBody>
                    <a:bodyPr/>
                    <a:lstStyle/>
                    <a:p>
                      <a:pPr algn="ctr">
                        <a:buNone/>
                      </a:pPr>
                      <a:r>
                        <a:rPr lang="en-IN" b="1" dirty="0"/>
                        <a:t>ID</a:t>
                      </a:r>
                      <a:endParaRPr lang="en-IN" dirty="0"/>
                    </a:p>
                  </a:txBody>
                  <a:tcPr anchor="ctr"/>
                </a:tc>
                <a:tc>
                  <a:txBody>
                    <a:bodyPr/>
                    <a:lstStyle/>
                    <a:p>
                      <a:pPr>
                        <a:buNone/>
                      </a:pPr>
                      <a:r>
                        <a:rPr lang="en-IN" b="1"/>
                        <a:t>Activity</a:t>
                      </a:r>
                      <a:endParaRPr lang="en-IN"/>
                    </a:p>
                  </a:txBody>
                  <a:tcPr anchor="ctr"/>
                </a:tc>
                <a:tc>
                  <a:txBody>
                    <a:bodyPr/>
                    <a:lstStyle/>
                    <a:p>
                      <a:pPr algn="ctr">
                        <a:buNone/>
                      </a:pPr>
                      <a:r>
                        <a:rPr lang="en-IN" b="1"/>
                        <a:t>Predecessor</a:t>
                      </a:r>
                      <a:endParaRPr lang="en-IN"/>
                    </a:p>
                  </a:txBody>
                  <a:tcPr anchor="ctr"/>
                </a:tc>
                <a:extLst>
                  <a:ext uri="{0D108BD9-81ED-4DB2-BD59-A6C34878D82A}">
                    <a16:rowId xmlns:a16="http://schemas.microsoft.com/office/drawing/2014/main" val="2168347262"/>
                  </a:ext>
                </a:extLst>
              </a:tr>
              <a:tr h="622557">
                <a:tc>
                  <a:txBody>
                    <a:bodyPr/>
                    <a:lstStyle/>
                    <a:p>
                      <a:pPr algn="ctr">
                        <a:buNone/>
                      </a:pPr>
                      <a:r>
                        <a:rPr lang="en-IN"/>
                        <a:t>A</a:t>
                      </a:r>
                    </a:p>
                  </a:txBody>
                  <a:tcPr anchor="ctr"/>
                </a:tc>
                <a:tc>
                  <a:txBody>
                    <a:bodyPr/>
                    <a:lstStyle/>
                    <a:p>
                      <a:pPr>
                        <a:buNone/>
                      </a:pPr>
                      <a:r>
                        <a:rPr lang="en-IN" dirty="0"/>
                        <a:t>Requirement Analysis</a:t>
                      </a:r>
                    </a:p>
                  </a:txBody>
                  <a:tcPr anchor="ctr"/>
                </a:tc>
                <a:tc>
                  <a:txBody>
                    <a:bodyPr/>
                    <a:lstStyle/>
                    <a:p>
                      <a:pPr algn="ctr">
                        <a:buNone/>
                      </a:pPr>
                      <a:r>
                        <a:rPr lang="en-IN"/>
                        <a:t>—</a:t>
                      </a:r>
                    </a:p>
                  </a:txBody>
                  <a:tcPr anchor="ctr"/>
                </a:tc>
                <a:extLst>
                  <a:ext uri="{0D108BD9-81ED-4DB2-BD59-A6C34878D82A}">
                    <a16:rowId xmlns:a16="http://schemas.microsoft.com/office/drawing/2014/main" val="2182258472"/>
                  </a:ext>
                </a:extLst>
              </a:tr>
              <a:tr h="566104">
                <a:tc>
                  <a:txBody>
                    <a:bodyPr/>
                    <a:lstStyle/>
                    <a:p>
                      <a:pPr algn="ctr">
                        <a:buNone/>
                      </a:pPr>
                      <a:r>
                        <a:rPr lang="en-IN"/>
                        <a:t>B</a:t>
                      </a:r>
                    </a:p>
                  </a:txBody>
                  <a:tcPr anchor="ctr"/>
                </a:tc>
                <a:tc>
                  <a:txBody>
                    <a:bodyPr/>
                    <a:lstStyle/>
                    <a:p>
                      <a:pPr>
                        <a:buNone/>
                      </a:pPr>
                      <a:r>
                        <a:rPr lang="en-IN" dirty="0"/>
                        <a:t>Literature Survey</a:t>
                      </a:r>
                    </a:p>
                  </a:txBody>
                  <a:tcPr anchor="ctr"/>
                </a:tc>
                <a:tc>
                  <a:txBody>
                    <a:bodyPr/>
                    <a:lstStyle/>
                    <a:p>
                      <a:pPr algn="ctr">
                        <a:buNone/>
                      </a:pPr>
                      <a:r>
                        <a:rPr lang="en-IN"/>
                        <a:t>A</a:t>
                      </a:r>
                    </a:p>
                  </a:txBody>
                  <a:tcPr anchor="ctr"/>
                </a:tc>
                <a:extLst>
                  <a:ext uri="{0D108BD9-81ED-4DB2-BD59-A6C34878D82A}">
                    <a16:rowId xmlns:a16="http://schemas.microsoft.com/office/drawing/2014/main" val="3319985896"/>
                  </a:ext>
                </a:extLst>
              </a:tr>
              <a:tr h="686809">
                <a:tc>
                  <a:txBody>
                    <a:bodyPr/>
                    <a:lstStyle/>
                    <a:p>
                      <a:pPr algn="ctr">
                        <a:buNone/>
                      </a:pPr>
                      <a:r>
                        <a:rPr lang="en-IN"/>
                        <a:t>C</a:t>
                      </a:r>
                    </a:p>
                  </a:txBody>
                  <a:tcPr anchor="ctr"/>
                </a:tc>
                <a:tc>
                  <a:txBody>
                    <a:bodyPr/>
                    <a:lstStyle/>
                    <a:p>
                      <a:pPr>
                        <a:buNone/>
                      </a:pPr>
                      <a:r>
                        <a:rPr lang="en-IN" dirty="0"/>
                        <a:t>System Design</a:t>
                      </a:r>
                    </a:p>
                  </a:txBody>
                  <a:tcPr anchor="ctr"/>
                </a:tc>
                <a:tc>
                  <a:txBody>
                    <a:bodyPr/>
                    <a:lstStyle/>
                    <a:p>
                      <a:pPr algn="ctr">
                        <a:buNone/>
                      </a:pPr>
                      <a:r>
                        <a:rPr lang="en-IN"/>
                        <a:t>B</a:t>
                      </a:r>
                    </a:p>
                  </a:txBody>
                  <a:tcPr anchor="ctr"/>
                </a:tc>
                <a:extLst>
                  <a:ext uri="{0D108BD9-81ED-4DB2-BD59-A6C34878D82A}">
                    <a16:rowId xmlns:a16="http://schemas.microsoft.com/office/drawing/2014/main" val="935430523"/>
                  </a:ext>
                </a:extLst>
              </a:tr>
              <a:tr h="686809">
                <a:tc>
                  <a:txBody>
                    <a:bodyPr/>
                    <a:lstStyle/>
                    <a:p>
                      <a:pPr algn="ctr">
                        <a:buNone/>
                      </a:pPr>
                      <a:r>
                        <a:rPr lang="en-IN"/>
                        <a:t>D</a:t>
                      </a:r>
                    </a:p>
                  </a:txBody>
                  <a:tcPr anchor="ctr"/>
                </a:tc>
                <a:tc>
                  <a:txBody>
                    <a:bodyPr/>
                    <a:lstStyle/>
                    <a:p>
                      <a:pPr>
                        <a:buNone/>
                      </a:pPr>
                      <a:r>
                        <a:rPr lang="en-IN" dirty="0"/>
                        <a:t>Frontend &amp; Backend Development</a:t>
                      </a:r>
                    </a:p>
                  </a:txBody>
                  <a:tcPr anchor="ctr"/>
                </a:tc>
                <a:tc>
                  <a:txBody>
                    <a:bodyPr/>
                    <a:lstStyle/>
                    <a:p>
                      <a:pPr algn="ctr">
                        <a:buNone/>
                      </a:pPr>
                      <a:r>
                        <a:rPr lang="en-IN"/>
                        <a:t>C</a:t>
                      </a:r>
                    </a:p>
                  </a:txBody>
                  <a:tcPr anchor="ctr"/>
                </a:tc>
                <a:extLst>
                  <a:ext uri="{0D108BD9-81ED-4DB2-BD59-A6C34878D82A}">
                    <a16:rowId xmlns:a16="http://schemas.microsoft.com/office/drawing/2014/main" val="3903606828"/>
                  </a:ext>
                </a:extLst>
              </a:tr>
              <a:tr h="562762">
                <a:tc>
                  <a:txBody>
                    <a:bodyPr/>
                    <a:lstStyle/>
                    <a:p>
                      <a:pPr algn="ctr">
                        <a:buNone/>
                      </a:pPr>
                      <a:r>
                        <a:rPr lang="en-IN"/>
                        <a:t>E</a:t>
                      </a:r>
                    </a:p>
                  </a:txBody>
                  <a:tcPr anchor="ctr"/>
                </a:tc>
                <a:tc>
                  <a:txBody>
                    <a:bodyPr/>
                    <a:lstStyle/>
                    <a:p>
                      <a:pPr>
                        <a:buNone/>
                      </a:pPr>
                      <a:r>
                        <a:rPr lang="en-US" dirty="0"/>
                        <a:t>AI &amp; IoT Integration</a:t>
                      </a:r>
                      <a:endParaRPr lang="en-IN" dirty="0"/>
                    </a:p>
                  </a:txBody>
                  <a:tcPr anchor="ctr"/>
                </a:tc>
                <a:tc>
                  <a:txBody>
                    <a:bodyPr/>
                    <a:lstStyle/>
                    <a:p>
                      <a:pPr algn="ctr">
                        <a:buNone/>
                      </a:pPr>
                      <a:r>
                        <a:rPr lang="en-IN"/>
                        <a:t>D</a:t>
                      </a:r>
                    </a:p>
                  </a:txBody>
                  <a:tcPr anchor="ctr"/>
                </a:tc>
                <a:extLst>
                  <a:ext uri="{0D108BD9-81ED-4DB2-BD59-A6C34878D82A}">
                    <a16:rowId xmlns:a16="http://schemas.microsoft.com/office/drawing/2014/main" val="708238758"/>
                  </a:ext>
                </a:extLst>
              </a:tr>
              <a:tr h="587558">
                <a:tc>
                  <a:txBody>
                    <a:bodyPr/>
                    <a:lstStyle/>
                    <a:p>
                      <a:pPr algn="ctr">
                        <a:buNone/>
                      </a:pPr>
                      <a:r>
                        <a:rPr lang="en-IN"/>
                        <a:t>F</a:t>
                      </a:r>
                    </a:p>
                  </a:txBody>
                  <a:tcPr anchor="ctr"/>
                </a:tc>
                <a:tc>
                  <a:txBody>
                    <a:bodyPr/>
                    <a:lstStyle/>
                    <a:p>
                      <a:pPr>
                        <a:buNone/>
                      </a:pPr>
                      <a:r>
                        <a:rPr lang="en-IN" dirty="0"/>
                        <a:t>System Integration</a:t>
                      </a:r>
                    </a:p>
                  </a:txBody>
                  <a:tcPr anchor="ctr"/>
                </a:tc>
                <a:tc>
                  <a:txBody>
                    <a:bodyPr/>
                    <a:lstStyle/>
                    <a:p>
                      <a:pPr algn="ctr">
                        <a:buNone/>
                      </a:pPr>
                      <a:r>
                        <a:rPr lang="en-IN" dirty="0"/>
                        <a:t>E</a:t>
                      </a:r>
                    </a:p>
                  </a:txBody>
                  <a:tcPr anchor="ctr"/>
                </a:tc>
                <a:extLst>
                  <a:ext uri="{0D108BD9-81ED-4DB2-BD59-A6C34878D82A}">
                    <a16:rowId xmlns:a16="http://schemas.microsoft.com/office/drawing/2014/main" val="4143411533"/>
                  </a:ext>
                </a:extLst>
              </a:tr>
              <a:tr h="649092">
                <a:tc>
                  <a:txBody>
                    <a:bodyPr/>
                    <a:lstStyle/>
                    <a:p>
                      <a:pPr algn="ctr">
                        <a:buNone/>
                      </a:pPr>
                      <a:r>
                        <a:rPr lang="en-US" dirty="0"/>
                        <a:t>G</a:t>
                      </a:r>
                      <a:endParaRPr lang="en-IN" dirty="0"/>
                    </a:p>
                  </a:txBody>
                  <a:tcPr anchor="ctr"/>
                </a:tc>
                <a:tc>
                  <a:txBody>
                    <a:bodyPr/>
                    <a:lstStyle/>
                    <a:p>
                      <a:pPr>
                        <a:buNone/>
                      </a:pPr>
                      <a:r>
                        <a:rPr lang="en-IN" dirty="0"/>
                        <a:t>Testing &amp; Optimization</a:t>
                      </a:r>
                    </a:p>
                  </a:txBody>
                  <a:tcPr anchor="ctr"/>
                </a:tc>
                <a:tc>
                  <a:txBody>
                    <a:bodyPr/>
                    <a:lstStyle/>
                    <a:p>
                      <a:pPr algn="ctr">
                        <a:buNone/>
                      </a:pPr>
                      <a:r>
                        <a:rPr lang="en-US" dirty="0"/>
                        <a:t>F</a:t>
                      </a:r>
                      <a:endParaRPr lang="en-IN" dirty="0"/>
                    </a:p>
                  </a:txBody>
                  <a:tcPr anchor="ctr"/>
                </a:tc>
                <a:extLst>
                  <a:ext uri="{0D108BD9-81ED-4DB2-BD59-A6C34878D82A}">
                    <a16:rowId xmlns:a16="http://schemas.microsoft.com/office/drawing/2014/main" val="1887587456"/>
                  </a:ext>
                </a:extLst>
              </a:tr>
              <a:tr h="429462">
                <a:tc>
                  <a:txBody>
                    <a:bodyPr/>
                    <a:lstStyle/>
                    <a:p>
                      <a:pPr algn="ctr">
                        <a:buNone/>
                      </a:pPr>
                      <a:r>
                        <a:rPr lang="en-IN" dirty="0"/>
                        <a:t>H</a:t>
                      </a:r>
                    </a:p>
                  </a:txBody>
                  <a:tcPr anchor="ctr"/>
                </a:tc>
                <a:tc>
                  <a:txBody>
                    <a:bodyPr/>
                    <a:lstStyle/>
                    <a:p>
                      <a:pPr>
                        <a:buNone/>
                      </a:pPr>
                      <a:r>
                        <a:rPr lang="en-IN" dirty="0"/>
                        <a:t>Documentation &amp; Presentation</a:t>
                      </a:r>
                    </a:p>
                  </a:txBody>
                  <a:tcPr anchor="ctr"/>
                </a:tc>
                <a:tc>
                  <a:txBody>
                    <a:bodyPr/>
                    <a:lstStyle/>
                    <a:p>
                      <a:pPr algn="ctr">
                        <a:buNone/>
                      </a:pPr>
                      <a:r>
                        <a:rPr lang="en-IN" dirty="0"/>
                        <a:t>G</a:t>
                      </a:r>
                    </a:p>
                  </a:txBody>
                  <a:tcPr anchor="ctr"/>
                </a:tc>
                <a:extLst>
                  <a:ext uri="{0D108BD9-81ED-4DB2-BD59-A6C34878D82A}">
                    <a16:rowId xmlns:a16="http://schemas.microsoft.com/office/drawing/2014/main" val="3058057182"/>
                  </a:ext>
                </a:extLst>
              </a:tr>
            </a:tbl>
          </a:graphicData>
        </a:graphic>
      </p:graphicFrame>
      <p:sp>
        <p:nvSpPr>
          <p:cNvPr id="21" name="Rectangle 20">
            <a:extLst>
              <a:ext uri="{FF2B5EF4-FFF2-40B4-BE49-F238E27FC236}">
                <a16:creationId xmlns:a16="http://schemas.microsoft.com/office/drawing/2014/main" id="{F450BACB-BAD2-B811-AEB3-0D7478CF0CFD}"/>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245FC4DD-935D-244C-F1FD-8A9F36222F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7F1A5EB-5483-8BBB-1ED9-5B087FDDE7E4}"/>
              </a:ext>
            </a:extLst>
          </p:cNvPr>
          <p:cNvSpPr>
            <a:spLocks noGrp="1"/>
          </p:cNvSpPr>
          <p:nvPr>
            <p:ph type="title"/>
          </p:nvPr>
        </p:nvSpPr>
        <p:spPr>
          <a:xfrm>
            <a:off x="566927" y="1016564"/>
            <a:ext cx="6794571" cy="574263"/>
          </a:xfrm>
        </p:spPr>
        <p:txBody>
          <a:bodyPr/>
          <a:lstStyle/>
          <a:p>
            <a:r>
              <a:rPr lang="en-IN" dirty="0"/>
              <a:t>Activity Precedence Table</a:t>
            </a:r>
          </a:p>
        </p:txBody>
      </p:sp>
    </p:spTree>
    <p:extLst>
      <p:ext uri="{BB962C8B-B14F-4D97-AF65-F5344CB8AC3E}">
        <p14:creationId xmlns:p14="http://schemas.microsoft.com/office/powerpoint/2010/main" val="2921135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74204B13-12CE-5849-82EE-2A784C3AC220}"/>
              </a:ext>
            </a:extLst>
          </p:cNvPr>
          <p:cNvSpPr>
            <a:spLocks noGrp="1"/>
          </p:cNvSpPr>
          <p:nvPr>
            <p:ph type="ftr" sz="quarter" idx="10"/>
          </p:nvPr>
        </p:nvSpPr>
        <p:spPr/>
        <p:txBody>
          <a:bodyPr/>
          <a:lstStyle/>
          <a:p>
            <a:fld id="{EB53C135-CEC6-A548-8917-8F7FEB82358B}" type="slidenum">
              <a:rPr lang="en-US" smtClean="0"/>
              <a:pPr/>
              <a:t>8</a:t>
            </a:fld>
            <a:endParaRPr lang="en-US" dirty="0"/>
          </a:p>
        </p:txBody>
      </p:sp>
      <p:sp>
        <p:nvSpPr>
          <p:cNvPr id="58" name="Title 57">
            <a:extLst>
              <a:ext uri="{FF2B5EF4-FFF2-40B4-BE49-F238E27FC236}">
                <a16:creationId xmlns:a16="http://schemas.microsoft.com/office/drawing/2014/main" id="{3A9EFF2A-3D5F-B622-E440-9E0445FE1A0A}"/>
              </a:ext>
            </a:extLst>
          </p:cNvPr>
          <p:cNvSpPr>
            <a:spLocks noGrp="1"/>
          </p:cNvSpPr>
          <p:nvPr>
            <p:ph type="title"/>
          </p:nvPr>
        </p:nvSpPr>
        <p:spPr>
          <a:xfrm>
            <a:off x="622808" y="1233767"/>
            <a:ext cx="6951472" cy="558629"/>
          </a:xfrm>
        </p:spPr>
        <p:txBody>
          <a:bodyPr/>
          <a:lstStyle/>
          <a:p>
            <a:r>
              <a:rPr lang="en-IN" dirty="0"/>
              <a:t>Glossary:</a:t>
            </a:r>
          </a:p>
        </p:txBody>
      </p:sp>
      <p:sp>
        <p:nvSpPr>
          <p:cNvPr id="59" name="Rectangle 58">
            <a:extLst>
              <a:ext uri="{FF2B5EF4-FFF2-40B4-BE49-F238E27FC236}">
                <a16:creationId xmlns:a16="http://schemas.microsoft.com/office/drawing/2014/main" id="{EDB0BD1B-638F-3CA9-D944-D5AA0B38D913}"/>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0" name="Picture 2" descr="Knowledge Institute of Technology – Salem Tamilnadu">
            <a:extLst>
              <a:ext uri="{FF2B5EF4-FFF2-40B4-BE49-F238E27FC236}">
                <a16:creationId xmlns:a16="http://schemas.microsoft.com/office/drawing/2014/main" id="{3843E347-A6B6-62FF-37CF-F04424D6C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a:extLst>
              <a:ext uri="{FF2B5EF4-FFF2-40B4-BE49-F238E27FC236}">
                <a16:creationId xmlns:a16="http://schemas.microsoft.com/office/drawing/2014/main" id="{5695DA92-F948-A6F7-CB8A-8C0CCFDC5AB0}"/>
              </a:ext>
            </a:extLst>
          </p:cNvPr>
          <p:cNvSpPr>
            <a:spLocks noGrp="1" noChangeArrowheads="1"/>
          </p:cNvSpPr>
          <p:nvPr>
            <p:ph idx="1"/>
          </p:nvPr>
        </p:nvSpPr>
        <p:spPr bwMode="auto">
          <a:xfrm>
            <a:off x="614234" y="1885750"/>
            <a:ext cx="1096353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IN" sz="2000" b="1" dirty="0"/>
              <a:t>AI:</a:t>
            </a:r>
            <a:r>
              <a:rPr lang="en-IN" sz="2000" dirty="0"/>
              <a:t> Artificial Intelligence used for health-data analysis.</a:t>
            </a:r>
          </a:p>
          <a:p>
            <a:pPr>
              <a:lnSpc>
                <a:spcPct val="100000"/>
              </a:lnSpc>
            </a:pPr>
            <a:r>
              <a:rPr lang="en-IN" sz="2000" b="1" dirty="0"/>
              <a:t>IoT:</a:t>
            </a:r>
            <a:r>
              <a:rPr lang="en-IN" sz="2000" dirty="0"/>
              <a:t> Internet of Things for connecting healthcare sensors.</a:t>
            </a:r>
          </a:p>
          <a:p>
            <a:pPr>
              <a:lnSpc>
                <a:spcPct val="100000"/>
              </a:lnSpc>
            </a:pPr>
            <a:r>
              <a:rPr lang="en-IN" sz="2000" b="1" dirty="0"/>
              <a:t>BLE:</a:t>
            </a:r>
            <a:r>
              <a:rPr lang="en-IN" sz="2000" dirty="0"/>
              <a:t> Bluetooth Low Energy for wearable communication.</a:t>
            </a:r>
          </a:p>
          <a:p>
            <a:pPr>
              <a:lnSpc>
                <a:spcPct val="100000"/>
              </a:lnSpc>
            </a:pPr>
            <a:r>
              <a:rPr lang="en-IN" sz="2000" b="1" dirty="0"/>
              <a:t>MQTT:</a:t>
            </a:r>
            <a:r>
              <a:rPr lang="en-IN" sz="2000" dirty="0"/>
              <a:t> Lightweight communication protocol for IoT data.</a:t>
            </a:r>
          </a:p>
          <a:p>
            <a:pPr>
              <a:lnSpc>
                <a:spcPct val="100000"/>
              </a:lnSpc>
            </a:pPr>
            <a:r>
              <a:rPr lang="en-IN" sz="2000" b="1" dirty="0"/>
              <a:t>SpO₂:</a:t>
            </a:r>
            <a:r>
              <a:rPr lang="en-IN" sz="2000" dirty="0"/>
              <a:t> Peripheral oxygen saturation.</a:t>
            </a:r>
          </a:p>
          <a:p>
            <a:pPr>
              <a:lnSpc>
                <a:spcPct val="100000"/>
              </a:lnSpc>
            </a:pPr>
            <a:r>
              <a:rPr lang="en-IN" sz="2000" b="1" dirty="0"/>
              <a:t>PPG:</a:t>
            </a:r>
            <a:r>
              <a:rPr lang="en-IN" sz="2000" dirty="0"/>
              <a:t> Photoplethysmography used for heart-rate and SpO₂ sensing.</a:t>
            </a:r>
          </a:p>
          <a:p>
            <a:pPr>
              <a:lnSpc>
                <a:spcPct val="100000"/>
              </a:lnSpc>
            </a:pPr>
            <a:r>
              <a:rPr lang="en-IN" sz="2000" b="1" dirty="0"/>
              <a:t>FCM:</a:t>
            </a:r>
            <a:r>
              <a:rPr lang="en-IN" sz="2000" dirty="0"/>
              <a:t> Firebase Cloud Messaging for push notifications.</a:t>
            </a:r>
          </a:p>
          <a:p>
            <a:pPr>
              <a:lnSpc>
                <a:spcPct val="100000"/>
              </a:lnSpc>
            </a:pPr>
            <a:r>
              <a:rPr lang="en-IN" sz="2000" b="1" dirty="0"/>
              <a:t>Anomaly:</a:t>
            </a:r>
            <a:r>
              <a:rPr lang="en-IN" sz="2000" dirty="0"/>
              <a:t> Vital reading outside the patient's configured normal range.</a:t>
            </a:r>
          </a:p>
          <a:p>
            <a:pPr>
              <a:lnSpc>
                <a:spcPct val="100000"/>
              </a:lnSpc>
            </a:pPr>
            <a:r>
              <a:rPr lang="en-IN" sz="2000" b="1" dirty="0"/>
              <a:t>Fall Event:</a:t>
            </a:r>
            <a:r>
              <a:rPr lang="en-IN" sz="2000" dirty="0"/>
              <a:t> Free-fall followed by impact and post-impact stillness.</a:t>
            </a:r>
          </a:p>
          <a:p>
            <a:pPr>
              <a:lnSpc>
                <a:spcPct val="100000"/>
              </a:lnSpc>
            </a:pPr>
            <a:r>
              <a:rPr lang="en-IN" sz="2000" b="1" dirty="0"/>
              <a:t>Caregiver Dashboard:</a:t>
            </a:r>
            <a:r>
              <a:rPr lang="en-IN" sz="2000" dirty="0"/>
              <a:t> Interface for family members/caregivers.</a:t>
            </a:r>
          </a:p>
          <a:p>
            <a:pPr>
              <a:lnSpc>
                <a:spcPct val="100000"/>
              </a:lnSpc>
            </a:pPr>
            <a:r>
              <a:rPr lang="en-IN" sz="2000" b="1" dirty="0"/>
              <a:t>Doctor Dashboard:</a:t>
            </a:r>
            <a:r>
              <a:rPr lang="en-IN" sz="2000" dirty="0"/>
              <a:t> Interface for healthcare professionals. </a:t>
            </a:r>
          </a:p>
        </p:txBody>
      </p:sp>
    </p:spTree>
    <p:extLst>
      <p:ext uri="{BB962C8B-B14F-4D97-AF65-F5344CB8AC3E}">
        <p14:creationId xmlns:p14="http://schemas.microsoft.com/office/powerpoint/2010/main" val="278288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79EA7-98F6-6B2B-D294-AF99CB4931CC}"/>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38533669-9E2E-BCA1-4AC3-2F61F885F7CB}"/>
              </a:ext>
            </a:extLst>
          </p:cNvPr>
          <p:cNvSpPr>
            <a:spLocks noGrp="1"/>
          </p:cNvSpPr>
          <p:nvPr>
            <p:ph type="ftr" sz="quarter" idx="17"/>
          </p:nvPr>
        </p:nvSpPr>
        <p:spPr/>
        <p:txBody>
          <a:bodyPr/>
          <a:lstStyle/>
          <a:p>
            <a:fld id="{85954F8D-B7E6-D640-BC50-D014E954A05D}" type="slidenum">
              <a:rPr lang="en-US" smtClean="0"/>
              <a:t>9</a:t>
            </a:fld>
            <a:endParaRPr lang="en-US" dirty="0"/>
          </a:p>
        </p:txBody>
      </p:sp>
      <p:sp>
        <p:nvSpPr>
          <p:cNvPr id="21" name="Rectangle 20">
            <a:extLst>
              <a:ext uri="{FF2B5EF4-FFF2-40B4-BE49-F238E27FC236}">
                <a16:creationId xmlns:a16="http://schemas.microsoft.com/office/drawing/2014/main" id="{ED9EAD4E-4CBA-3CFB-BDAF-B4DEAA604ED3}"/>
              </a:ext>
            </a:extLst>
          </p:cNvPr>
          <p:cNvSpPr/>
          <p:nvPr/>
        </p:nvSpPr>
        <p:spPr>
          <a:xfrm>
            <a:off x="0" y="28295"/>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ADC90A71-DE45-773A-657E-79A894C65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6A1CCCC5-39BE-33E1-78FE-261157664320}"/>
              </a:ext>
            </a:extLst>
          </p:cNvPr>
          <p:cNvSpPr>
            <a:spLocks noGrp="1"/>
          </p:cNvSpPr>
          <p:nvPr>
            <p:ph type="title"/>
          </p:nvPr>
        </p:nvSpPr>
        <p:spPr>
          <a:xfrm>
            <a:off x="566927" y="886132"/>
            <a:ext cx="7765543" cy="668204"/>
          </a:xfrm>
        </p:spPr>
        <p:txBody>
          <a:bodyPr/>
          <a:lstStyle/>
          <a:p>
            <a:r>
              <a:rPr lang="en-IN" dirty="0"/>
              <a:t>Core</a:t>
            </a:r>
            <a:r>
              <a:rPr lang="en-IN" b="1" dirty="0"/>
              <a:t> </a:t>
            </a:r>
            <a:r>
              <a:rPr lang="en-IN" dirty="0"/>
              <a:t>Technologies</a:t>
            </a:r>
            <a:r>
              <a:rPr lang="en-IN" b="1" dirty="0"/>
              <a:t> </a:t>
            </a:r>
            <a:r>
              <a:rPr lang="en-IN" dirty="0"/>
              <a:t>&amp; Principles </a:t>
            </a:r>
          </a:p>
        </p:txBody>
      </p:sp>
      <p:sp>
        <p:nvSpPr>
          <p:cNvPr id="6" name="Rectangle 1">
            <a:extLst>
              <a:ext uri="{FF2B5EF4-FFF2-40B4-BE49-F238E27FC236}">
                <a16:creationId xmlns:a16="http://schemas.microsoft.com/office/drawing/2014/main" id="{0BCB7B48-4B54-1AA9-C2C4-414E23B31185}"/>
              </a:ext>
            </a:extLst>
          </p:cNvPr>
          <p:cNvSpPr>
            <a:spLocks noGrp="1" noChangeArrowheads="1"/>
          </p:cNvSpPr>
          <p:nvPr>
            <p:ph idx="1"/>
          </p:nvPr>
        </p:nvSpPr>
        <p:spPr bwMode="auto">
          <a:xfrm>
            <a:off x="502920" y="1459495"/>
            <a:ext cx="11483134" cy="57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IN" sz="2000" b="1" dirty="0"/>
              <a:t>ARTIFICIAL INTELLIGENCE</a:t>
            </a:r>
            <a:endParaRPr lang="en-IN" sz="2000" dirty="0"/>
          </a:p>
          <a:p>
            <a:pPr lvl="0">
              <a:lnSpc>
                <a:spcPct val="100000"/>
              </a:lnSpc>
            </a:pPr>
            <a:r>
              <a:rPr lang="en-IN" sz="2000" dirty="0"/>
              <a:t>Analyses vital signs. </a:t>
            </a:r>
          </a:p>
          <a:p>
            <a:pPr lvl="0">
              <a:lnSpc>
                <a:spcPct val="100000"/>
              </a:lnSpc>
            </a:pPr>
            <a:r>
              <a:rPr lang="en-IN" sz="2000" dirty="0"/>
              <a:t>Detects abnormal readings and fall events. </a:t>
            </a:r>
          </a:p>
          <a:p>
            <a:pPr>
              <a:lnSpc>
                <a:spcPct val="100000"/>
              </a:lnSpc>
            </a:pPr>
            <a:r>
              <a:rPr lang="en-IN" sz="2000" b="1" dirty="0"/>
              <a:t>IoT &amp; WEARABLE SENSORS</a:t>
            </a:r>
            <a:endParaRPr lang="en-IN" sz="2000" dirty="0"/>
          </a:p>
          <a:p>
            <a:pPr lvl="0">
              <a:lnSpc>
                <a:spcPct val="100000"/>
              </a:lnSpc>
            </a:pPr>
            <a:r>
              <a:rPr lang="en-IN" sz="2000" dirty="0"/>
              <a:t>Measures heart rate, SpO₂, temperature and motion. </a:t>
            </a:r>
          </a:p>
          <a:p>
            <a:pPr>
              <a:lnSpc>
                <a:spcPct val="100000"/>
              </a:lnSpc>
            </a:pPr>
            <a:r>
              <a:rPr lang="en-IN" sz="2000" b="1" dirty="0"/>
              <a:t>CLOUD COMPUTING</a:t>
            </a:r>
            <a:endParaRPr lang="en-IN" sz="2000" dirty="0"/>
          </a:p>
          <a:p>
            <a:pPr lvl="0">
              <a:lnSpc>
                <a:spcPct val="100000"/>
              </a:lnSpc>
            </a:pPr>
            <a:r>
              <a:rPr lang="en-IN" sz="2000" dirty="0"/>
              <a:t>Stores and synchronises patient health information. </a:t>
            </a:r>
          </a:p>
          <a:p>
            <a:pPr>
              <a:lnSpc>
                <a:spcPct val="100000"/>
              </a:lnSpc>
            </a:pPr>
            <a:r>
              <a:rPr lang="en-IN" sz="2000" b="1" dirty="0"/>
              <a:t>WEB TECHNOLOGY</a:t>
            </a:r>
            <a:endParaRPr lang="en-IN" sz="2000" dirty="0"/>
          </a:p>
          <a:p>
            <a:pPr lvl="0">
              <a:lnSpc>
                <a:spcPct val="100000"/>
              </a:lnSpc>
            </a:pPr>
            <a:r>
              <a:rPr lang="en-IN" sz="2000" dirty="0"/>
              <a:t>React provides dashboards. </a:t>
            </a:r>
          </a:p>
          <a:p>
            <a:pPr lvl="0">
              <a:lnSpc>
                <a:spcPct val="100000"/>
              </a:lnSpc>
            </a:pPr>
            <a:r>
              <a:rPr lang="en-IN" sz="2000" dirty="0"/>
              <a:t>Node.js and Express provide backend services. </a:t>
            </a:r>
          </a:p>
          <a:p>
            <a:pPr>
              <a:lnSpc>
                <a:spcPct val="100000"/>
              </a:lnSpc>
            </a:pPr>
            <a:r>
              <a:rPr lang="en-IN" sz="2000" b="1" dirty="0"/>
              <a:t>AUTHENTICATION</a:t>
            </a:r>
            <a:endParaRPr lang="en-IN" sz="2000" dirty="0"/>
          </a:p>
          <a:p>
            <a:pPr lvl="0">
              <a:lnSpc>
                <a:spcPct val="100000"/>
              </a:lnSpc>
            </a:pPr>
            <a:r>
              <a:rPr lang="en-IN" sz="2000" dirty="0"/>
              <a:t>Firebase Authentication supports patient, caregiver and doctor roles. </a:t>
            </a:r>
          </a:p>
          <a:p>
            <a:pPr>
              <a:lnSpc>
                <a:spcPct val="100000"/>
              </a:lnSpc>
            </a:pPr>
            <a:r>
              <a:rPr lang="en-IN" sz="2000" b="1" dirty="0"/>
              <a:t>NOTIFICATION</a:t>
            </a:r>
            <a:endParaRPr lang="en-IN" sz="2000" dirty="0"/>
          </a:p>
          <a:p>
            <a:pPr lvl="0">
              <a:lnSpc>
                <a:spcPct val="100000"/>
              </a:lnSpc>
            </a:pPr>
            <a:r>
              <a:rPr lang="en-IN" sz="2000" dirty="0"/>
              <a:t>FCM push notifications and SMS provide emergency alerts. </a:t>
            </a:r>
          </a:p>
          <a:p>
            <a:pPr marL="0" indent="0">
              <a:lnSpc>
                <a:spcPct val="100000"/>
              </a:lnSpc>
              <a:buNone/>
            </a:pPr>
            <a:endParaRPr lang="en-IN" sz="2000" dirty="0"/>
          </a:p>
        </p:txBody>
      </p:sp>
    </p:spTree>
    <p:extLst>
      <p:ext uri="{BB962C8B-B14F-4D97-AF65-F5344CB8AC3E}">
        <p14:creationId xmlns:p14="http://schemas.microsoft.com/office/powerpoint/2010/main" val="1701276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27BB-7CFF-8D68-3D96-552C7AF6A9B8}"/>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010332AB-4FEA-B0A0-1609-E0A59408925E}"/>
              </a:ext>
            </a:extLst>
          </p:cNvPr>
          <p:cNvSpPr>
            <a:spLocks noGrp="1"/>
          </p:cNvSpPr>
          <p:nvPr>
            <p:ph type="ftr" sz="quarter" idx="17"/>
          </p:nvPr>
        </p:nvSpPr>
        <p:spPr/>
        <p:txBody>
          <a:bodyPr/>
          <a:lstStyle/>
          <a:p>
            <a:fld id="{85954F8D-B7E6-D640-BC50-D014E954A05D}" type="slidenum">
              <a:rPr lang="en-US" smtClean="0"/>
              <a:t>10</a:t>
            </a:fld>
            <a:endParaRPr lang="en-US" dirty="0"/>
          </a:p>
        </p:txBody>
      </p:sp>
      <p:sp>
        <p:nvSpPr>
          <p:cNvPr id="21" name="Rectangle 20">
            <a:extLst>
              <a:ext uri="{FF2B5EF4-FFF2-40B4-BE49-F238E27FC236}">
                <a16:creationId xmlns:a16="http://schemas.microsoft.com/office/drawing/2014/main" id="{9D8CD9C6-AE63-3585-1672-1EF8752C48EE}"/>
              </a:ext>
            </a:extLst>
          </p:cNvPr>
          <p:cNvSpPr/>
          <p:nvPr/>
        </p:nvSpPr>
        <p:spPr>
          <a:xfrm>
            <a:off x="0" y="42657"/>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AA6C2931-DC1E-6305-AF2A-4E95B823B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E18C957-F7D2-2F8E-B1E8-92E1D87B08CA}"/>
              </a:ext>
            </a:extLst>
          </p:cNvPr>
          <p:cNvSpPr>
            <a:spLocks noGrp="1"/>
          </p:cNvSpPr>
          <p:nvPr>
            <p:ph type="title"/>
          </p:nvPr>
        </p:nvSpPr>
        <p:spPr>
          <a:xfrm>
            <a:off x="566927" y="1088831"/>
            <a:ext cx="6794571" cy="590931"/>
          </a:xfrm>
        </p:spPr>
        <p:txBody>
          <a:bodyPr/>
          <a:lstStyle/>
          <a:p>
            <a:r>
              <a:rPr lang="en-IN" dirty="0"/>
              <a:t>Concept Rules &amp; Laws</a:t>
            </a:r>
          </a:p>
        </p:txBody>
      </p:sp>
      <p:sp>
        <p:nvSpPr>
          <p:cNvPr id="2" name="Content Placeholder 1">
            <a:extLst>
              <a:ext uri="{FF2B5EF4-FFF2-40B4-BE49-F238E27FC236}">
                <a16:creationId xmlns:a16="http://schemas.microsoft.com/office/drawing/2014/main" id="{84B01320-DC36-76C7-1B69-C440727F5307}"/>
              </a:ext>
            </a:extLst>
          </p:cNvPr>
          <p:cNvSpPr>
            <a:spLocks noGrp="1" noChangeArrowheads="1"/>
          </p:cNvSpPr>
          <p:nvPr>
            <p:ph idx="1"/>
          </p:nvPr>
        </p:nvSpPr>
        <p:spPr bwMode="auto">
          <a:xfrm>
            <a:off x="624459" y="2080132"/>
            <a:ext cx="11309634" cy="386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IN" sz="2000" b="1" dirty="0"/>
              <a:t>VITAL MONITORING PRINCIPLE</a:t>
            </a:r>
            <a:br>
              <a:rPr lang="en-IN" sz="2000" dirty="0"/>
            </a:br>
            <a:r>
              <a:rPr lang="en-IN" sz="2000" dirty="0"/>
              <a:t>Wearable sensors continuously collect physiological and motion data.</a:t>
            </a:r>
          </a:p>
          <a:p>
            <a:pPr>
              <a:lnSpc>
                <a:spcPct val="100000"/>
              </a:lnSpc>
            </a:pPr>
            <a:r>
              <a:rPr lang="en-IN" sz="2000" b="1" dirty="0"/>
              <a:t>ANOMALY DETECTION PRINCIPLE</a:t>
            </a:r>
            <a:br>
              <a:rPr lang="en-IN" sz="2000" dirty="0"/>
            </a:br>
            <a:r>
              <a:rPr lang="en-IN" sz="2000" dirty="0"/>
              <a:t>New readings are compared with personalised normal threshold ranges.</a:t>
            </a:r>
          </a:p>
          <a:p>
            <a:pPr>
              <a:lnSpc>
                <a:spcPct val="100000"/>
              </a:lnSpc>
            </a:pPr>
            <a:r>
              <a:rPr lang="en-IN" sz="2000" b="1" dirty="0"/>
              <a:t>FALL DETECTION PRINCIPLE</a:t>
            </a:r>
            <a:br>
              <a:rPr lang="en-IN" sz="2000" dirty="0"/>
            </a:br>
            <a:r>
              <a:rPr lang="en-IN" sz="2000" dirty="0"/>
              <a:t>A fall is identified through the sequence:</a:t>
            </a:r>
          </a:p>
          <a:p>
            <a:pPr marL="0" indent="0">
              <a:lnSpc>
                <a:spcPct val="100000"/>
              </a:lnSpc>
              <a:buNone/>
            </a:pPr>
            <a:r>
              <a:rPr lang="en-IN" sz="2000" dirty="0"/>
              <a:t>   </a:t>
            </a:r>
            <a:r>
              <a:rPr lang="en-IN" sz="2000" b="1" dirty="0"/>
              <a:t>FREE FALL → IMPACT → POST-IMPACT STILLNESS</a:t>
            </a:r>
            <a:endParaRPr lang="en-IN" sz="2000" dirty="0"/>
          </a:p>
          <a:p>
            <a:pPr>
              <a:lnSpc>
                <a:spcPct val="100000"/>
              </a:lnSpc>
            </a:pPr>
            <a:r>
              <a:rPr lang="en-IN" sz="2000" b="1" dirty="0"/>
              <a:t>ALERT PRINCIPLE</a:t>
            </a:r>
            <a:br>
              <a:rPr lang="en-IN" sz="2000" dirty="0"/>
            </a:br>
            <a:r>
              <a:rPr lang="en-IN" sz="2000" dirty="0"/>
              <a:t>Detected anomalies or falls generate alerts for linked caregivers and doctors.</a:t>
            </a:r>
          </a:p>
          <a:p>
            <a:pPr>
              <a:lnSpc>
                <a:spcPct val="100000"/>
              </a:lnSpc>
            </a:pPr>
            <a:r>
              <a:rPr lang="en-IN" sz="2000" b="1" dirty="0"/>
              <a:t>TREND ANALYSIS PRINCIPLE</a:t>
            </a:r>
            <a:br>
              <a:rPr lang="en-IN" sz="2000" dirty="0"/>
            </a:br>
            <a:r>
              <a:rPr lang="en-IN" sz="2000" dirty="0"/>
              <a:t>Historical readings are aggregated to identify gradual changes in patient condition. .</a:t>
            </a:r>
          </a:p>
        </p:txBody>
      </p:sp>
    </p:spTree>
    <p:extLst>
      <p:ext uri="{BB962C8B-B14F-4D97-AF65-F5344CB8AC3E}">
        <p14:creationId xmlns:p14="http://schemas.microsoft.com/office/powerpoint/2010/main" val="3412214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729C4-38BF-184D-7672-1FD204282AAB}"/>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D2C2B464-E3B2-8604-4847-B8653FF8C2D6}"/>
              </a:ext>
            </a:extLst>
          </p:cNvPr>
          <p:cNvSpPr>
            <a:spLocks noGrp="1"/>
          </p:cNvSpPr>
          <p:nvPr>
            <p:ph type="ftr" sz="quarter" idx="17"/>
          </p:nvPr>
        </p:nvSpPr>
        <p:spPr/>
        <p:txBody>
          <a:bodyPr/>
          <a:lstStyle/>
          <a:p>
            <a:fld id="{85954F8D-B7E6-D640-BC50-D014E954A05D}" type="slidenum">
              <a:rPr lang="en-US" smtClean="0"/>
              <a:t>11</a:t>
            </a:fld>
            <a:endParaRPr lang="en-US" dirty="0"/>
          </a:p>
        </p:txBody>
      </p:sp>
      <p:sp>
        <p:nvSpPr>
          <p:cNvPr id="21" name="Rectangle 20">
            <a:extLst>
              <a:ext uri="{FF2B5EF4-FFF2-40B4-BE49-F238E27FC236}">
                <a16:creationId xmlns:a16="http://schemas.microsoft.com/office/drawing/2014/main" id="{3223A500-B993-985A-34EC-928D6E1D4532}"/>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193B5C55-C4F9-BF6A-FB21-82CA108C3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A19A17C-EBB5-ECD6-B2A3-3BDDB7E4338F}"/>
              </a:ext>
            </a:extLst>
          </p:cNvPr>
          <p:cNvSpPr>
            <a:spLocks noGrp="1"/>
          </p:cNvSpPr>
          <p:nvPr>
            <p:ph type="title"/>
          </p:nvPr>
        </p:nvSpPr>
        <p:spPr>
          <a:xfrm>
            <a:off x="416456" y="1027113"/>
            <a:ext cx="6794571" cy="535531"/>
          </a:xfrm>
        </p:spPr>
        <p:txBody>
          <a:bodyPr/>
          <a:lstStyle/>
          <a:p>
            <a:r>
              <a:rPr lang="en-IN" sz="3200" dirty="0"/>
              <a:t>System Components &amp; Technologies</a:t>
            </a:r>
            <a:endParaRPr lang="en-IN" dirty="0"/>
          </a:p>
        </p:txBody>
      </p:sp>
      <p:graphicFrame>
        <p:nvGraphicFramePr>
          <p:cNvPr id="5" name="Table 4">
            <a:extLst>
              <a:ext uri="{FF2B5EF4-FFF2-40B4-BE49-F238E27FC236}">
                <a16:creationId xmlns:a16="http://schemas.microsoft.com/office/drawing/2014/main" id="{7163E6F2-01D2-BAA6-0072-F25D3D18DD14}"/>
              </a:ext>
            </a:extLst>
          </p:cNvPr>
          <p:cNvGraphicFramePr>
            <a:graphicFrameLocks noGrp="1"/>
          </p:cNvGraphicFramePr>
          <p:nvPr>
            <p:extLst>
              <p:ext uri="{D42A27DB-BD31-4B8C-83A1-F6EECF244321}">
                <p14:modId xmlns:p14="http://schemas.microsoft.com/office/powerpoint/2010/main" val="1484501958"/>
              </p:ext>
            </p:extLst>
          </p:nvPr>
        </p:nvGraphicFramePr>
        <p:xfrm>
          <a:off x="1878227" y="1957795"/>
          <a:ext cx="8281772" cy="4361976"/>
        </p:xfrm>
        <a:graphic>
          <a:graphicData uri="http://schemas.openxmlformats.org/drawingml/2006/table">
            <a:tbl>
              <a:tblPr firstRow="1" bandRow="1">
                <a:tableStyleId>{5940675A-B579-460E-94D1-54222C63F5DA}</a:tableStyleId>
              </a:tblPr>
              <a:tblGrid>
                <a:gridCol w="4140886">
                  <a:extLst>
                    <a:ext uri="{9D8B030D-6E8A-4147-A177-3AD203B41FA5}">
                      <a16:colId xmlns:a16="http://schemas.microsoft.com/office/drawing/2014/main" val="3318739982"/>
                    </a:ext>
                  </a:extLst>
                </a:gridCol>
                <a:gridCol w="4140886">
                  <a:extLst>
                    <a:ext uri="{9D8B030D-6E8A-4147-A177-3AD203B41FA5}">
                      <a16:colId xmlns:a16="http://schemas.microsoft.com/office/drawing/2014/main" val="2096446020"/>
                    </a:ext>
                  </a:extLst>
                </a:gridCol>
              </a:tblGrid>
              <a:tr h="484664">
                <a:tc>
                  <a:txBody>
                    <a:bodyPr/>
                    <a:lstStyle/>
                    <a:p>
                      <a:pPr>
                        <a:buNone/>
                      </a:pPr>
                      <a:r>
                        <a:rPr lang="en-IN" b="1" dirty="0">
                          <a:solidFill>
                            <a:schemeClr val="tx1">
                              <a:lumMod val="50000"/>
                            </a:schemeClr>
                          </a:solidFill>
                        </a:rPr>
                        <a:t>Technology / Component</a:t>
                      </a:r>
                    </a:p>
                  </a:txBody>
                  <a:tcPr anchor="ctr">
                    <a:solidFill>
                      <a:srgbClr val="0070C0"/>
                    </a:solidFill>
                  </a:tcPr>
                </a:tc>
                <a:tc>
                  <a:txBody>
                    <a:bodyPr/>
                    <a:lstStyle/>
                    <a:p>
                      <a:pPr>
                        <a:buNone/>
                      </a:pPr>
                      <a:r>
                        <a:rPr lang="en-US" b="1" dirty="0">
                          <a:solidFill>
                            <a:schemeClr val="tx1">
                              <a:lumMod val="50000"/>
                            </a:schemeClr>
                          </a:solidFill>
                        </a:rPr>
                        <a:t>Purpose</a:t>
                      </a:r>
                      <a:endParaRPr lang="en-IN" b="1" dirty="0">
                        <a:solidFill>
                          <a:schemeClr val="tx1">
                            <a:lumMod val="50000"/>
                          </a:schemeClr>
                        </a:solidFill>
                      </a:endParaRPr>
                    </a:p>
                  </a:txBody>
                  <a:tcPr anchor="ctr">
                    <a:solidFill>
                      <a:srgbClr val="0070C0"/>
                    </a:solidFill>
                  </a:tcPr>
                </a:tc>
                <a:extLst>
                  <a:ext uri="{0D108BD9-81ED-4DB2-BD59-A6C34878D82A}">
                    <a16:rowId xmlns:a16="http://schemas.microsoft.com/office/drawing/2014/main" val="2871653405"/>
                  </a:ext>
                </a:extLst>
              </a:tr>
              <a:tr h="484664">
                <a:tc>
                  <a:txBody>
                    <a:bodyPr/>
                    <a:lstStyle/>
                    <a:p>
                      <a:r>
                        <a:rPr lang="en-IN" dirty="0"/>
                        <a:t>PPG Sensor</a:t>
                      </a:r>
                    </a:p>
                  </a:txBody>
                  <a:tcPr/>
                </a:tc>
                <a:tc>
                  <a:txBody>
                    <a:bodyPr/>
                    <a:lstStyle/>
                    <a:p>
                      <a:r>
                        <a:rPr lang="en-IN" dirty="0"/>
                        <a:t>Heart Rate &amp; SpO₂ Monitoring</a:t>
                      </a:r>
                    </a:p>
                  </a:txBody>
                  <a:tcPr/>
                </a:tc>
                <a:extLst>
                  <a:ext uri="{0D108BD9-81ED-4DB2-BD59-A6C34878D82A}">
                    <a16:rowId xmlns:a16="http://schemas.microsoft.com/office/drawing/2014/main" val="3749707240"/>
                  </a:ext>
                </a:extLst>
              </a:tr>
              <a:tr h="484664">
                <a:tc>
                  <a:txBody>
                    <a:bodyPr/>
                    <a:lstStyle/>
                    <a:p>
                      <a:r>
                        <a:rPr lang="en-IN" dirty="0"/>
                        <a:t>Temperature Sensor</a:t>
                      </a:r>
                    </a:p>
                  </a:txBody>
                  <a:tcPr/>
                </a:tc>
                <a:tc>
                  <a:txBody>
                    <a:bodyPr/>
                    <a:lstStyle/>
                    <a:p>
                      <a:r>
                        <a:rPr lang="en-IN" dirty="0"/>
                        <a:t>Body Temperature Monitoring</a:t>
                      </a:r>
                    </a:p>
                  </a:txBody>
                  <a:tcPr/>
                </a:tc>
                <a:extLst>
                  <a:ext uri="{0D108BD9-81ED-4DB2-BD59-A6C34878D82A}">
                    <a16:rowId xmlns:a16="http://schemas.microsoft.com/office/drawing/2014/main" val="2688205211"/>
                  </a:ext>
                </a:extLst>
              </a:tr>
              <a:tr h="484664">
                <a:tc>
                  <a:txBody>
                    <a:bodyPr/>
                    <a:lstStyle/>
                    <a:p>
                      <a:r>
                        <a:rPr lang="en-IN" dirty="0"/>
                        <a:t>Accelerometer / Gyroscope</a:t>
                      </a:r>
                    </a:p>
                  </a:txBody>
                  <a:tcPr/>
                </a:tc>
                <a:tc>
                  <a:txBody>
                    <a:bodyPr/>
                    <a:lstStyle/>
                    <a:p>
                      <a:r>
                        <a:rPr lang="en-IN" dirty="0"/>
                        <a:t>Motion &amp; Fall Detection</a:t>
                      </a:r>
                    </a:p>
                  </a:txBody>
                  <a:tcPr/>
                </a:tc>
                <a:extLst>
                  <a:ext uri="{0D108BD9-81ED-4DB2-BD59-A6C34878D82A}">
                    <a16:rowId xmlns:a16="http://schemas.microsoft.com/office/drawing/2014/main" val="4098122302"/>
                  </a:ext>
                </a:extLst>
              </a:tr>
              <a:tr h="484664">
                <a:tc>
                  <a:txBody>
                    <a:bodyPr/>
                    <a:lstStyle/>
                    <a:p>
                      <a:pPr>
                        <a:buNone/>
                      </a:pPr>
                      <a:r>
                        <a:rPr lang="en-IN" dirty="0"/>
                        <a:t>ESP32</a:t>
                      </a:r>
                    </a:p>
                  </a:txBody>
                  <a:tcPr anchor="ctr"/>
                </a:tc>
                <a:tc>
                  <a:txBody>
                    <a:bodyPr/>
                    <a:lstStyle/>
                    <a:p>
                      <a:pPr>
                        <a:buNone/>
                      </a:pPr>
                      <a:r>
                        <a:rPr lang="en-IN" dirty="0"/>
                        <a:t>Sensor Processing &amp; Control</a:t>
                      </a:r>
                    </a:p>
                  </a:txBody>
                  <a:tcPr anchor="ctr"/>
                </a:tc>
                <a:extLst>
                  <a:ext uri="{0D108BD9-81ED-4DB2-BD59-A6C34878D82A}">
                    <a16:rowId xmlns:a16="http://schemas.microsoft.com/office/drawing/2014/main" val="3909076810"/>
                  </a:ext>
                </a:extLst>
              </a:tr>
              <a:tr h="484664">
                <a:tc>
                  <a:txBody>
                    <a:bodyPr/>
                    <a:lstStyle/>
                    <a:p>
                      <a:pPr>
                        <a:buNone/>
                      </a:pPr>
                      <a:r>
                        <a:rPr lang="en-IN" dirty="0"/>
                        <a:t>BLE / Wi-Fi</a:t>
                      </a:r>
                    </a:p>
                  </a:txBody>
                  <a:tcPr anchor="ctr"/>
                </a:tc>
                <a:tc>
                  <a:txBody>
                    <a:bodyPr/>
                    <a:lstStyle/>
                    <a:p>
                      <a:pPr>
                        <a:buNone/>
                      </a:pPr>
                      <a:r>
                        <a:rPr lang="en-IN" dirty="0"/>
                        <a:t>Wireless Data Transmission</a:t>
                      </a:r>
                    </a:p>
                  </a:txBody>
                  <a:tcPr anchor="ctr"/>
                </a:tc>
                <a:extLst>
                  <a:ext uri="{0D108BD9-81ED-4DB2-BD59-A6C34878D82A}">
                    <a16:rowId xmlns:a16="http://schemas.microsoft.com/office/drawing/2014/main" val="4021885384"/>
                  </a:ext>
                </a:extLst>
              </a:tr>
              <a:tr h="484664">
                <a:tc>
                  <a:txBody>
                    <a:bodyPr/>
                    <a:lstStyle/>
                    <a:p>
                      <a:r>
                        <a:rPr lang="en-IN" dirty="0"/>
                        <a:t>MQTT</a:t>
                      </a:r>
                    </a:p>
                  </a:txBody>
                  <a:tcPr/>
                </a:tc>
                <a:tc>
                  <a:txBody>
                    <a:bodyPr/>
                    <a:lstStyle/>
                    <a:p>
                      <a:r>
                        <a:rPr lang="en-IN" dirty="0"/>
                        <a:t>Real-Time Data Communication</a:t>
                      </a:r>
                    </a:p>
                  </a:txBody>
                  <a:tcPr/>
                </a:tc>
                <a:extLst>
                  <a:ext uri="{0D108BD9-81ED-4DB2-BD59-A6C34878D82A}">
                    <a16:rowId xmlns:a16="http://schemas.microsoft.com/office/drawing/2014/main" val="785243403"/>
                  </a:ext>
                </a:extLst>
              </a:tr>
              <a:tr h="484664">
                <a:tc>
                  <a:txBody>
                    <a:bodyPr/>
                    <a:lstStyle/>
                    <a:p>
                      <a:r>
                        <a:rPr lang="en-IN" dirty="0"/>
                        <a:t>Firebase / Node.js / Express</a:t>
                      </a:r>
                    </a:p>
                  </a:txBody>
                  <a:tcPr/>
                </a:tc>
                <a:tc>
                  <a:txBody>
                    <a:bodyPr/>
                    <a:lstStyle/>
                    <a:p>
                      <a:r>
                        <a:rPr lang="en-IN" dirty="0"/>
                        <a:t>Cloud &amp; Backend Processing</a:t>
                      </a:r>
                    </a:p>
                  </a:txBody>
                  <a:tcPr/>
                </a:tc>
                <a:extLst>
                  <a:ext uri="{0D108BD9-81ED-4DB2-BD59-A6C34878D82A}">
                    <a16:rowId xmlns:a16="http://schemas.microsoft.com/office/drawing/2014/main" val="3731769101"/>
                  </a:ext>
                </a:extLst>
              </a:tr>
              <a:tr h="484664">
                <a:tc>
                  <a:txBody>
                    <a:bodyPr/>
                    <a:lstStyle/>
                    <a:p>
                      <a:r>
                        <a:rPr lang="en-IN" dirty="0"/>
                        <a:t>React.js / FCM / SMS</a:t>
                      </a:r>
                    </a:p>
                  </a:txBody>
                  <a:tcPr/>
                </a:tc>
                <a:tc>
                  <a:txBody>
                    <a:bodyPr/>
                    <a:lstStyle/>
                    <a:p>
                      <a:r>
                        <a:rPr lang="en-IN" dirty="0"/>
                        <a:t>Dashboard &amp; Emergency Alerts</a:t>
                      </a:r>
                    </a:p>
                  </a:txBody>
                  <a:tcPr/>
                </a:tc>
                <a:extLst>
                  <a:ext uri="{0D108BD9-81ED-4DB2-BD59-A6C34878D82A}">
                    <a16:rowId xmlns:a16="http://schemas.microsoft.com/office/drawing/2014/main" val="3010232006"/>
                  </a:ext>
                </a:extLst>
              </a:tr>
            </a:tbl>
          </a:graphicData>
        </a:graphic>
      </p:graphicFrame>
    </p:spTree>
    <p:extLst>
      <p:ext uri="{BB962C8B-B14F-4D97-AF65-F5344CB8AC3E}">
        <p14:creationId xmlns:p14="http://schemas.microsoft.com/office/powerpoint/2010/main" val="2759135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6E226-18E3-A918-1889-F64652F87982}"/>
            </a:ext>
          </a:extLst>
        </p:cNvPr>
        <p:cNvGrpSpPr/>
        <p:nvPr/>
      </p:nvGrpSpPr>
      <p:grpSpPr>
        <a:xfrm>
          <a:off x="0" y="0"/>
          <a:ext cx="0" cy="0"/>
          <a:chOff x="0" y="0"/>
          <a:chExt cx="0" cy="0"/>
        </a:xfrm>
      </p:grpSpPr>
      <p:sp>
        <p:nvSpPr>
          <p:cNvPr id="16" name="Slide Number">
            <a:extLst>
              <a:ext uri="{FF2B5EF4-FFF2-40B4-BE49-F238E27FC236}">
                <a16:creationId xmlns:a16="http://schemas.microsoft.com/office/drawing/2014/main" id="{49277DEC-FD55-B750-99F6-ED4AF3D2B345}"/>
              </a:ext>
            </a:extLst>
          </p:cNvPr>
          <p:cNvSpPr>
            <a:spLocks noGrp="1"/>
          </p:cNvSpPr>
          <p:nvPr>
            <p:ph type="ftr" sz="quarter" idx="10"/>
          </p:nvPr>
        </p:nvSpPr>
        <p:spPr/>
        <p:txBody>
          <a:bodyPr/>
          <a:lstStyle/>
          <a:p>
            <a:fld id="{2E1B3BED-EDDA-2E42-813F-F157009AF3C2}" type="slidenum">
              <a:rPr lang="en-US" smtClean="0"/>
              <a:t>12</a:t>
            </a:fld>
            <a:endParaRPr lang="en-US" dirty="0"/>
          </a:p>
        </p:txBody>
      </p:sp>
      <p:sp>
        <p:nvSpPr>
          <p:cNvPr id="10" name="Rectangle 9">
            <a:extLst>
              <a:ext uri="{FF2B5EF4-FFF2-40B4-BE49-F238E27FC236}">
                <a16:creationId xmlns:a16="http://schemas.microsoft.com/office/drawing/2014/main" id="{61D44474-B6A9-2E80-CFB1-F6A61E5207D1}"/>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a:extLst>
              <a:ext uri="{FF2B5EF4-FFF2-40B4-BE49-F238E27FC236}">
                <a16:creationId xmlns:a16="http://schemas.microsoft.com/office/drawing/2014/main" id="{18AF6717-8050-162E-0152-455468FEFE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7" name="Title 3">
            <a:extLst>
              <a:ext uri="{FF2B5EF4-FFF2-40B4-BE49-F238E27FC236}">
                <a16:creationId xmlns:a16="http://schemas.microsoft.com/office/drawing/2014/main" id="{11A54090-C1CD-E4C7-7C4F-120173108496}"/>
              </a:ext>
            </a:extLst>
          </p:cNvPr>
          <p:cNvSpPr txBox="1">
            <a:spLocks/>
          </p:cNvSpPr>
          <p:nvPr/>
        </p:nvSpPr>
        <p:spPr>
          <a:xfrm>
            <a:off x="566928" y="1325496"/>
            <a:ext cx="2993908" cy="480131"/>
          </a:xfrm>
          <a:prstGeom prst="rect">
            <a:avLst/>
          </a:prstGeom>
        </p:spPr>
        <p:txBody>
          <a:bodyPr vert="horz" wrap="square" lIns="91440" tIns="45720" rIns="91440" bIns="45720" rtlCol="0" anchor="b" anchorCtr="0">
            <a:spAutoFit/>
          </a:bodyPr>
          <a:lst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a:lstStyle>
          <a:p>
            <a:r>
              <a:rPr lang="en-IN" sz="2800" dirty="0"/>
              <a:t>System Model</a:t>
            </a:r>
          </a:p>
        </p:txBody>
      </p:sp>
      <p:sp>
        <p:nvSpPr>
          <p:cNvPr id="8" name="TextBox 7">
            <a:extLst>
              <a:ext uri="{FF2B5EF4-FFF2-40B4-BE49-F238E27FC236}">
                <a16:creationId xmlns:a16="http://schemas.microsoft.com/office/drawing/2014/main" id="{6E3F020F-F7F0-7CA1-93B2-4C1DA598E34A}"/>
              </a:ext>
            </a:extLst>
          </p:cNvPr>
          <p:cNvSpPr txBox="1"/>
          <p:nvPr/>
        </p:nvSpPr>
        <p:spPr>
          <a:xfrm>
            <a:off x="3040792" y="2024488"/>
            <a:ext cx="6110416" cy="4247317"/>
          </a:xfrm>
          <a:prstGeom prst="rect">
            <a:avLst/>
          </a:prstGeom>
          <a:noFill/>
        </p:spPr>
        <p:txBody>
          <a:bodyPr wrap="square">
            <a:spAutoFit/>
          </a:bodyPr>
          <a:lstStyle/>
          <a:p>
            <a:r>
              <a:rPr lang="en-IN" b="1" dirty="0"/>
              <a:t>WEARABLE SENSORS</a:t>
            </a:r>
            <a:br>
              <a:rPr lang="en-IN" dirty="0"/>
            </a:br>
            <a:r>
              <a:rPr lang="en-IN" dirty="0"/>
              <a:t>                 ↓</a:t>
            </a:r>
            <a:br>
              <a:rPr lang="en-IN" dirty="0"/>
            </a:br>
            <a:r>
              <a:rPr lang="en-IN" b="1" dirty="0"/>
              <a:t>ESP32 / IoT GATEWAY</a:t>
            </a:r>
            <a:br>
              <a:rPr lang="en-IN" dirty="0"/>
            </a:br>
            <a:r>
              <a:rPr lang="en-IN" dirty="0"/>
              <a:t>                 ↓</a:t>
            </a:r>
            <a:br>
              <a:rPr lang="en-IN" dirty="0"/>
            </a:br>
            <a:r>
              <a:rPr lang="en-IN" b="1" dirty="0"/>
              <a:t>BLE / WI-FI / MQTT</a:t>
            </a:r>
            <a:br>
              <a:rPr lang="en-IN" dirty="0"/>
            </a:br>
            <a:r>
              <a:rPr lang="en-IN" dirty="0"/>
              <a:t>                 ↓</a:t>
            </a:r>
            <a:br>
              <a:rPr lang="en-IN" dirty="0"/>
            </a:br>
            <a:r>
              <a:rPr lang="en-IN" b="1" dirty="0"/>
              <a:t>CLOUD PLATFORM / FIREBASE</a:t>
            </a:r>
            <a:br>
              <a:rPr lang="en-IN" dirty="0"/>
            </a:br>
            <a:r>
              <a:rPr lang="en-IN" dirty="0"/>
              <a:t>                 ↓</a:t>
            </a:r>
            <a:br>
              <a:rPr lang="en-IN" dirty="0"/>
            </a:br>
            <a:r>
              <a:rPr lang="en-IN" b="1" dirty="0"/>
              <a:t>AI HEALTH ANALYSIS</a:t>
            </a:r>
            <a:br>
              <a:rPr lang="en-IN" dirty="0"/>
            </a:br>
            <a:r>
              <a:rPr lang="en-IN" dirty="0"/>
              <a:t>                 ↓</a:t>
            </a:r>
            <a:br>
              <a:rPr lang="en-IN" dirty="0"/>
            </a:br>
            <a:r>
              <a:rPr lang="en-IN" b="1" dirty="0"/>
              <a:t>ANOMALY &amp; FALL DETECTION</a:t>
            </a:r>
            <a:br>
              <a:rPr lang="en-IN" dirty="0"/>
            </a:br>
            <a:r>
              <a:rPr lang="en-IN" dirty="0"/>
              <a:t>                 ↓</a:t>
            </a:r>
            <a:br>
              <a:rPr lang="en-IN" dirty="0"/>
            </a:br>
            <a:r>
              <a:rPr lang="en-IN" b="1" dirty="0"/>
              <a:t>ALERT &amp; NOTIFICATION SERVICE</a:t>
            </a:r>
            <a:br>
              <a:rPr lang="en-IN" dirty="0"/>
            </a:br>
            <a:r>
              <a:rPr lang="en-IN" dirty="0"/>
              <a:t>                 ↓</a:t>
            </a:r>
            <a:br>
              <a:rPr lang="en-IN" dirty="0"/>
            </a:br>
            <a:r>
              <a:rPr lang="en-IN" b="1" dirty="0"/>
              <a:t>CAREGIVER / DOCTOR DASHBOARD</a:t>
            </a:r>
            <a:endParaRPr lang="en-IN" dirty="0"/>
          </a:p>
        </p:txBody>
      </p:sp>
    </p:spTree>
    <p:extLst>
      <p:ext uri="{BB962C8B-B14F-4D97-AF65-F5344CB8AC3E}">
        <p14:creationId xmlns:p14="http://schemas.microsoft.com/office/powerpoint/2010/main" val="1450126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8611-98CE-DD98-71BF-373DCFBBA15F}"/>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DDF4BD0B-487E-0EFB-5090-B575D91BDFC3}"/>
              </a:ext>
            </a:extLst>
          </p:cNvPr>
          <p:cNvSpPr>
            <a:spLocks noGrp="1"/>
          </p:cNvSpPr>
          <p:nvPr>
            <p:ph type="ftr" sz="quarter" idx="17"/>
          </p:nvPr>
        </p:nvSpPr>
        <p:spPr/>
        <p:txBody>
          <a:bodyPr/>
          <a:lstStyle/>
          <a:p>
            <a:fld id="{85954F8D-B7E6-D640-BC50-D014E954A05D}" type="slidenum">
              <a:rPr lang="en-US" smtClean="0"/>
              <a:t>13</a:t>
            </a:fld>
            <a:endParaRPr lang="en-US" dirty="0"/>
          </a:p>
        </p:txBody>
      </p:sp>
      <p:sp>
        <p:nvSpPr>
          <p:cNvPr id="21" name="Rectangle 20">
            <a:extLst>
              <a:ext uri="{FF2B5EF4-FFF2-40B4-BE49-F238E27FC236}">
                <a16:creationId xmlns:a16="http://schemas.microsoft.com/office/drawing/2014/main" id="{B6561CC2-FB8E-0F7F-5BAE-C16EDB634CB3}"/>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E072C555-A9B9-7CD0-7AB1-B90DD3991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BCBCE1D-4E99-C95A-9ABF-F1F85E08151F}"/>
              </a:ext>
            </a:extLst>
          </p:cNvPr>
          <p:cNvSpPr>
            <a:spLocks noGrp="1"/>
          </p:cNvSpPr>
          <p:nvPr>
            <p:ph type="title"/>
          </p:nvPr>
        </p:nvSpPr>
        <p:spPr>
          <a:xfrm>
            <a:off x="428031" y="1256756"/>
            <a:ext cx="6794571" cy="535531"/>
          </a:xfrm>
        </p:spPr>
        <p:txBody>
          <a:bodyPr/>
          <a:lstStyle/>
          <a:p>
            <a:r>
              <a:rPr lang="en-IN" sz="3200" dirty="0"/>
              <a:t>What-if-Analysis</a:t>
            </a:r>
            <a:endParaRPr lang="en-IN" dirty="0"/>
          </a:p>
        </p:txBody>
      </p:sp>
      <p:graphicFrame>
        <p:nvGraphicFramePr>
          <p:cNvPr id="9" name="Content Placeholder 8">
            <a:extLst>
              <a:ext uri="{FF2B5EF4-FFF2-40B4-BE49-F238E27FC236}">
                <a16:creationId xmlns:a16="http://schemas.microsoft.com/office/drawing/2014/main" id="{1E810977-ED7D-76BF-0E6F-97C2809FA2A8}"/>
              </a:ext>
            </a:extLst>
          </p:cNvPr>
          <p:cNvGraphicFramePr>
            <a:graphicFrameLocks noGrp="1"/>
          </p:cNvGraphicFramePr>
          <p:nvPr>
            <p:ph idx="1"/>
            <p:extLst>
              <p:ext uri="{D42A27DB-BD31-4B8C-83A1-F6EECF244321}">
                <p14:modId xmlns:p14="http://schemas.microsoft.com/office/powerpoint/2010/main" val="1444320198"/>
              </p:ext>
            </p:extLst>
          </p:nvPr>
        </p:nvGraphicFramePr>
        <p:xfrm>
          <a:off x="2174789" y="1857355"/>
          <a:ext cx="6911413" cy="4601625"/>
        </p:xfrm>
        <a:graphic>
          <a:graphicData uri="http://schemas.openxmlformats.org/drawingml/2006/table">
            <a:tbl>
              <a:tblPr firstRow="1" bandRow="1">
                <a:tableStyleId>{5940675A-B579-460E-94D1-54222C63F5DA}</a:tableStyleId>
              </a:tblPr>
              <a:tblGrid>
                <a:gridCol w="2583180">
                  <a:extLst>
                    <a:ext uri="{9D8B030D-6E8A-4147-A177-3AD203B41FA5}">
                      <a16:colId xmlns:a16="http://schemas.microsoft.com/office/drawing/2014/main" val="3507699735"/>
                    </a:ext>
                  </a:extLst>
                </a:gridCol>
                <a:gridCol w="4328233">
                  <a:extLst>
                    <a:ext uri="{9D8B030D-6E8A-4147-A177-3AD203B41FA5}">
                      <a16:colId xmlns:a16="http://schemas.microsoft.com/office/drawing/2014/main" val="4237529504"/>
                    </a:ext>
                  </a:extLst>
                </a:gridCol>
              </a:tblGrid>
              <a:tr h="565935">
                <a:tc>
                  <a:txBody>
                    <a:bodyPr/>
                    <a:lstStyle/>
                    <a:p>
                      <a:pPr>
                        <a:buNone/>
                      </a:pPr>
                      <a:r>
                        <a:rPr lang="en-IN" dirty="0">
                          <a:solidFill>
                            <a:schemeClr val="tx1">
                              <a:lumMod val="50000"/>
                            </a:schemeClr>
                          </a:solidFill>
                        </a:rPr>
                        <a:t>Scenario</a:t>
                      </a:r>
                    </a:p>
                  </a:txBody>
                  <a:tcPr anchor="ctr">
                    <a:solidFill>
                      <a:srgbClr val="0070C0"/>
                    </a:solidFill>
                  </a:tcPr>
                </a:tc>
                <a:tc>
                  <a:txBody>
                    <a:bodyPr/>
                    <a:lstStyle/>
                    <a:p>
                      <a:pPr>
                        <a:buNone/>
                      </a:pPr>
                      <a:r>
                        <a:rPr lang="en-IN" dirty="0">
                          <a:solidFill>
                            <a:schemeClr val="tx1">
                              <a:lumMod val="50000"/>
                            </a:schemeClr>
                          </a:solidFill>
                        </a:rPr>
                        <a:t>Expected System Response</a:t>
                      </a:r>
                    </a:p>
                  </a:txBody>
                  <a:tcPr anchor="ctr">
                    <a:solidFill>
                      <a:srgbClr val="0070C0"/>
                    </a:solidFill>
                  </a:tcPr>
                </a:tc>
                <a:extLst>
                  <a:ext uri="{0D108BD9-81ED-4DB2-BD59-A6C34878D82A}">
                    <a16:rowId xmlns:a16="http://schemas.microsoft.com/office/drawing/2014/main" val="2708464026"/>
                  </a:ext>
                </a:extLst>
              </a:tr>
              <a:tr h="565935">
                <a:tc>
                  <a:txBody>
                    <a:bodyPr/>
                    <a:lstStyle/>
                    <a:p>
                      <a:r>
                        <a:rPr lang="en-IN" dirty="0"/>
                        <a:t>Normal Vital Reading</a:t>
                      </a:r>
                      <a:endParaRPr lang="en-IN" dirty="0">
                        <a:solidFill>
                          <a:schemeClr val="tx1">
                            <a:lumMod val="50000"/>
                          </a:schemeClr>
                        </a:solidFill>
                      </a:endParaRPr>
                    </a:p>
                  </a:txBody>
                  <a:tcPr/>
                </a:tc>
                <a:tc>
                  <a:txBody>
                    <a:bodyPr/>
                    <a:lstStyle/>
                    <a:p>
                      <a:r>
                        <a:rPr lang="en-IN" dirty="0"/>
                        <a:t>Continue monitoring without alert</a:t>
                      </a:r>
                      <a:r>
                        <a:rPr lang="en-IN" dirty="0">
                          <a:solidFill>
                            <a:schemeClr val="tx1">
                              <a:lumMod val="50000"/>
                            </a:schemeClr>
                          </a:solidFill>
                        </a:rPr>
                        <a:t>.</a:t>
                      </a:r>
                    </a:p>
                  </a:txBody>
                  <a:tcPr/>
                </a:tc>
                <a:extLst>
                  <a:ext uri="{0D108BD9-81ED-4DB2-BD59-A6C34878D82A}">
                    <a16:rowId xmlns:a16="http://schemas.microsoft.com/office/drawing/2014/main" val="2722500497"/>
                  </a:ext>
                </a:extLst>
              </a:tr>
              <a:tr h="565935">
                <a:tc>
                  <a:txBody>
                    <a:bodyPr/>
                    <a:lstStyle/>
                    <a:p>
                      <a:r>
                        <a:rPr lang="en-IN" dirty="0"/>
                        <a:t>Abnormal Vital Reading</a:t>
                      </a:r>
                      <a:endParaRPr lang="en-IN" dirty="0">
                        <a:solidFill>
                          <a:schemeClr val="tx1">
                            <a:lumMod val="50000"/>
                          </a:schemeClr>
                        </a:solidFill>
                      </a:endParaRPr>
                    </a:p>
                  </a:txBody>
                  <a:tcPr/>
                </a:tc>
                <a:tc>
                  <a:txBody>
                    <a:bodyPr/>
                    <a:lstStyle/>
                    <a:p>
                      <a:pPr>
                        <a:buNone/>
                      </a:pPr>
                      <a:r>
                        <a:rPr lang="en-IN" dirty="0"/>
                        <a:t>AI flags the abnormal condition</a:t>
                      </a:r>
                    </a:p>
                  </a:txBody>
                  <a:tcPr anchor="ctr"/>
                </a:tc>
                <a:extLst>
                  <a:ext uri="{0D108BD9-81ED-4DB2-BD59-A6C34878D82A}">
                    <a16:rowId xmlns:a16="http://schemas.microsoft.com/office/drawing/2014/main" val="4075969111"/>
                  </a:ext>
                </a:extLst>
              </a:tr>
              <a:tr h="565935">
                <a:tc>
                  <a:txBody>
                    <a:bodyPr/>
                    <a:lstStyle/>
                    <a:p>
                      <a:r>
                        <a:rPr lang="en-IN" dirty="0"/>
                        <a:t>Possible Fall</a:t>
                      </a:r>
                      <a:endParaRPr lang="en-IN" dirty="0">
                        <a:solidFill>
                          <a:schemeClr val="tx1">
                            <a:lumMod val="50000"/>
                          </a:schemeClr>
                        </a:solidFill>
                      </a:endParaRPr>
                    </a:p>
                  </a:txBody>
                  <a:tcPr/>
                </a:tc>
                <a:tc>
                  <a:txBody>
                    <a:bodyPr/>
                    <a:lstStyle/>
                    <a:p>
                      <a:r>
                        <a:rPr lang="en-IN" dirty="0"/>
                        <a:t>Analyse fall pattern and generate alert</a:t>
                      </a:r>
                      <a:endParaRPr lang="en-IN" dirty="0">
                        <a:solidFill>
                          <a:schemeClr val="tx1">
                            <a:lumMod val="50000"/>
                          </a:schemeClr>
                        </a:solidFill>
                      </a:endParaRPr>
                    </a:p>
                  </a:txBody>
                  <a:tcPr/>
                </a:tc>
                <a:extLst>
                  <a:ext uri="{0D108BD9-81ED-4DB2-BD59-A6C34878D82A}">
                    <a16:rowId xmlns:a16="http://schemas.microsoft.com/office/drawing/2014/main" val="4151060377"/>
                  </a:ext>
                </a:extLst>
              </a:tr>
              <a:tr h="565935">
                <a:tc>
                  <a:txBody>
                    <a:bodyPr/>
                    <a:lstStyle/>
                    <a:p>
                      <a:r>
                        <a:rPr lang="en-IN" dirty="0"/>
                        <a:t>Critical Vital Condition</a:t>
                      </a:r>
                      <a:endParaRPr lang="en-IN" dirty="0">
                        <a:solidFill>
                          <a:schemeClr val="tx1">
                            <a:lumMod val="50000"/>
                          </a:schemeClr>
                        </a:solidFill>
                      </a:endParaRPr>
                    </a:p>
                  </a:txBody>
                  <a:tcPr/>
                </a:tc>
                <a:tc>
                  <a:txBody>
                    <a:bodyPr/>
                    <a:lstStyle/>
                    <a:p>
                      <a:pPr>
                        <a:buNone/>
                      </a:pPr>
                      <a:r>
                        <a:rPr lang="en-IN" dirty="0"/>
                        <a:t>Push notification and SMS</a:t>
                      </a:r>
                    </a:p>
                  </a:txBody>
                  <a:tcPr anchor="ctr"/>
                </a:tc>
                <a:extLst>
                  <a:ext uri="{0D108BD9-81ED-4DB2-BD59-A6C34878D82A}">
                    <a16:rowId xmlns:a16="http://schemas.microsoft.com/office/drawing/2014/main" val="2122788655"/>
                  </a:ext>
                </a:extLst>
              </a:tr>
              <a:tr h="565935">
                <a:tc>
                  <a:txBody>
                    <a:bodyPr/>
                    <a:lstStyle/>
                    <a:p>
                      <a:r>
                        <a:rPr lang="en-IN" dirty="0"/>
                        <a:t>Missed Medication</a:t>
                      </a:r>
                      <a:endParaRPr lang="en-IN" dirty="0">
                        <a:solidFill>
                          <a:schemeClr val="tx1">
                            <a:lumMod val="50000"/>
                          </a:schemeClr>
                        </a:solidFill>
                      </a:endParaRPr>
                    </a:p>
                  </a:txBody>
                  <a:tcPr/>
                </a:tc>
                <a:tc>
                  <a:txBody>
                    <a:bodyPr/>
                    <a:lstStyle/>
                    <a:p>
                      <a:r>
                        <a:rPr lang="en-IN" dirty="0"/>
                        <a:t>Reminder followed by caregiver escalation</a:t>
                      </a:r>
                      <a:endParaRPr lang="en-IN" dirty="0">
                        <a:solidFill>
                          <a:schemeClr val="tx1">
                            <a:lumMod val="50000"/>
                          </a:schemeClr>
                        </a:solidFill>
                      </a:endParaRPr>
                    </a:p>
                  </a:txBody>
                  <a:tcPr/>
                </a:tc>
                <a:extLst>
                  <a:ext uri="{0D108BD9-81ED-4DB2-BD59-A6C34878D82A}">
                    <a16:rowId xmlns:a16="http://schemas.microsoft.com/office/drawing/2014/main" val="3244241046"/>
                  </a:ext>
                </a:extLst>
              </a:tr>
              <a:tr h="565935">
                <a:tc>
                  <a:txBody>
                    <a:bodyPr/>
                    <a:lstStyle/>
                    <a:p>
                      <a:r>
                        <a:rPr lang="en-IN" dirty="0"/>
                        <a:t>Network Failure</a:t>
                      </a:r>
                      <a:endParaRPr lang="en-IN" dirty="0">
                        <a:solidFill>
                          <a:schemeClr val="tx1">
                            <a:lumMod val="50000"/>
                          </a:schemeClr>
                        </a:solidFill>
                      </a:endParaRPr>
                    </a:p>
                  </a:txBody>
                  <a:tcPr/>
                </a:tc>
                <a:tc>
                  <a:txBody>
                    <a:bodyPr/>
                    <a:lstStyle/>
                    <a:p>
                      <a:r>
                        <a:rPr lang="en-IN" dirty="0"/>
                        <a:t>Gateway retries / buffers data</a:t>
                      </a:r>
                      <a:endParaRPr lang="en-IN" dirty="0">
                        <a:solidFill>
                          <a:schemeClr val="tx1">
                            <a:lumMod val="50000"/>
                          </a:schemeClr>
                        </a:solidFill>
                      </a:endParaRPr>
                    </a:p>
                  </a:txBody>
                  <a:tcPr/>
                </a:tc>
                <a:extLst>
                  <a:ext uri="{0D108BD9-81ED-4DB2-BD59-A6C34878D82A}">
                    <a16:rowId xmlns:a16="http://schemas.microsoft.com/office/drawing/2014/main" val="2440191544"/>
                  </a:ext>
                </a:extLst>
              </a:tr>
              <a:tr h="565935">
                <a:tc>
                  <a:txBody>
                    <a:bodyPr/>
                    <a:lstStyle/>
                    <a:p>
                      <a:r>
                        <a:rPr lang="en-IN" dirty="0"/>
                        <a:t>Sensor Disconnection</a:t>
                      </a:r>
                      <a:endParaRPr lang="en-IN" dirty="0">
                        <a:solidFill>
                          <a:schemeClr val="tx1">
                            <a:lumMod val="50000"/>
                          </a:schemeClr>
                        </a:solidFill>
                      </a:endParaRPr>
                    </a:p>
                  </a:txBody>
                  <a:tcPr/>
                </a:tc>
                <a:tc>
                  <a:txBody>
                    <a:bodyPr/>
                    <a:lstStyle/>
                    <a:p>
                      <a:r>
                        <a:rPr lang="en-IN" dirty="0"/>
                        <a:t>Device-offline notification</a:t>
                      </a:r>
                      <a:endParaRPr lang="en-IN" dirty="0">
                        <a:solidFill>
                          <a:schemeClr val="tx1">
                            <a:lumMod val="50000"/>
                          </a:schemeClr>
                        </a:solidFill>
                      </a:endParaRPr>
                    </a:p>
                  </a:txBody>
                  <a:tcPr/>
                </a:tc>
                <a:extLst>
                  <a:ext uri="{0D108BD9-81ED-4DB2-BD59-A6C34878D82A}">
                    <a16:rowId xmlns:a16="http://schemas.microsoft.com/office/drawing/2014/main" val="3742244931"/>
                  </a:ext>
                </a:extLst>
              </a:tr>
            </a:tbl>
          </a:graphicData>
        </a:graphic>
      </p:graphicFrame>
    </p:spTree>
    <p:extLst>
      <p:ext uri="{BB962C8B-B14F-4D97-AF65-F5344CB8AC3E}">
        <p14:creationId xmlns:p14="http://schemas.microsoft.com/office/powerpoint/2010/main" val="76723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FE9B-69E1-4412-FF35-31E959E9258B}"/>
            </a:ext>
          </a:extLst>
        </p:cNvPr>
        <p:cNvGrpSpPr/>
        <p:nvPr/>
      </p:nvGrpSpPr>
      <p:grpSpPr>
        <a:xfrm>
          <a:off x="0" y="0"/>
          <a:ext cx="0" cy="0"/>
          <a:chOff x="0" y="0"/>
          <a:chExt cx="0" cy="0"/>
        </a:xfrm>
      </p:grpSpPr>
      <p:sp>
        <p:nvSpPr>
          <p:cNvPr id="7" name="Slide Number">
            <a:extLst>
              <a:ext uri="{FF2B5EF4-FFF2-40B4-BE49-F238E27FC236}">
                <a16:creationId xmlns:a16="http://schemas.microsoft.com/office/drawing/2014/main" id="{43BAC711-C6DF-11B7-50F5-4B990156C5C5}"/>
              </a:ext>
            </a:extLst>
          </p:cNvPr>
          <p:cNvSpPr>
            <a:spLocks noGrp="1"/>
          </p:cNvSpPr>
          <p:nvPr>
            <p:ph type="ftr" sz="quarter" idx="17"/>
          </p:nvPr>
        </p:nvSpPr>
        <p:spPr/>
        <p:txBody>
          <a:bodyPr/>
          <a:lstStyle/>
          <a:p>
            <a:fld id="{85954F8D-B7E6-D640-BC50-D014E954A05D}" type="slidenum">
              <a:rPr lang="en-US" smtClean="0"/>
              <a:t>14</a:t>
            </a:fld>
            <a:endParaRPr lang="en-US" dirty="0"/>
          </a:p>
        </p:txBody>
      </p:sp>
      <p:sp>
        <p:nvSpPr>
          <p:cNvPr id="21" name="Rectangle 20">
            <a:extLst>
              <a:ext uri="{FF2B5EF4-FFF2-40B4-BE49-F238E27FC236}">
                <a16:creationId xmlns:a16="http://schemas.microsoft.com/office/drawing/2014/main" id="{F05D4DAE-8546-EE14-0CA7-063A83072BDF}"/>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1C6E89FC-C84A-78AE-8431-8FF6AABDD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E2BD22C-CB15-9270-C611-98DDD9DCC629}"/>
              </a:ext>
            </a:extLst>
          </p:cNvPr>
          <p:cNvSpPr>
            <a:spLocks noGrp="1"/>
          </p:cNvSpPr>
          <p:nvPr>
            <p:ph type="title"/>
          </p:nvPr>
        </p:nvSpPr>
        <p:spPr>
          <a:xfrm>
            <a:off x="502921" y="1156653"/>
            <a:ext cx="6794571" cy="440002"/>
          </a:xfrm>
        </p:spPr>
        <p:txBody>
          <a:bodyPr/>
          <a:lstStyle/>
          <a:p>
            <a:r>
              <a:rPr lang="en-IN" sz="3200" dirty="0"/>
              <a:t>Conclusion</a:t>
            </a:r>
            <a:endParaRPr lang="en-IN" dirty="0"/>
          </a:p>
        </p:txBody>
      </p:sp>
      <p:sp>
        <p:nvSpPr>
          <p:cNvPr id="2" name="Content Placeholder 1">
            <a:extLst>
              <a:ext uri="{FF2B5EF4-FFF2-40B4-BE49-F238E27FC236}">
                <a16:creationId xmlns:a16="http://schemas.microsoft.com/office/drawing/2014/main" id="{60B97FB3-8490-1F45-E4D1-74AF76C62C10}"/>
              </a:ext>
            </a:extLst>
          </p:cNvPr>
          <p:cNvSpPr>
            <a:spLocks noGrp="1" noChangeArrowheads="1"/>
          </p:cNvSpPr>
          <p:nvPr>
            <p:ph idx="1"/>
          </p:nvPr>
        </p:nvSpPr>
        <p:spPr bwMode="auto">
          <a:xfrm>
            <a:off x="502921" y="1932307"/>
            <a:ext cx="10848102" cy="4051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t>The </a:t>
            </a:r>
            <a:r>
              <a:rPr lang="en-IN" sz="2000" b="1" dirty="0"/>
              <a:t>Intelligent Remote Healthcare and Assisted Living Ecosystem</a:t>
            </a:r>
            <a:r>
              <a:rPr lang="en-IN" sz="2000" dirty="0"/>
              <a:t> demonstrates an integrated remote-monitoring solution combining wearable sensors, IoT communication, cloud computing and AI-based analysis. The system continuously monitors important health and activity parameters, identifies abnormal conditions and possible falls, and provides automated alerts to caregivers and doctors. Medication reminders, historical trend analysis, role-based dashboards and PDF reporting further support continuous patient care. Functional and integration testing showed that the major modules worked as designed, providing a strong prototype foundation for future enhancements such as machine-learning-based detection, additional sensors, GPS tracking, mobile applications, predictive analytics and clinical validation.</a:t>
            </a:r>
          </a:p>
        </p:txBody>
      </p:sp>
    </p:spTree>
    <p:extLst>
      <p:ext uri="{BB962C8B-B14F-4D97-AF65-F5344CB8AC3E}">
        <p14:creationId xmlns:p14="http://schemas.microsoft.com/office/powerpoint/2010/main" val="619635169"/>
      </p:ext>
    </p:extLst>
  </p:cSld>
  <p:clrMapOvr>
    <a:masterClrMapping/>
  </p:clrMapOvr>
</p:sld>
</file>

<file path=ppt/theme/theme1.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1099</TotalTime>
  <Words>1059</Words>
  <Application>Microsoft Office PowerPoint</Application>
  <PresentationFormat>Widescreen</PresentationFormat>
  <Paragraphs>210</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Regular</vt:lpstr>
      <vt:lpstr>Georgia</vt:lpstr>
      <vt:lpstr>System Font Regular</vt:lpstr>
      <vt:lpstr>Times New Roman</vt:lpstr>
      <vt:lpstr>Office Theme</vt:lpstr>
      <vt:lpstr>INTELLIGENT REMOTE HEALTHCARE AND ASSISTED LIVING ECOSYSTEM</vt:lpstr>
      <vt:lpstr>PowerPoint Presentation</vt:lpstr>
      <vt:lpstr>Engineering Design Process</vt:lpstr>
      <vt:lpstr>Process Table</vt:lpstr>
      <vt:lpstr>List of Activities</vt:lpstr>
      <vt:lpstr>Activity Duration Table</vt:lpstr>
      <vt:lpstr>Activity Precedence Table</vt:lpstr>
      <vt:lpstr>Glossary:</vt:lpstr>
      <vt:lpstr>Core Technologies &amp; Principles </vt:lpstr>
      <vt:lpstr>Concept Rules &amp; Laws</vt:lpstr>
      <vt:lpstr>System Components &amp; Technologies</vt:lpstr>
      <vt:lpstr>PowerPoint Presentation</vt:lpstr>
      <vt:lpstr>What-if-Analysis</vt:lpstr>
      <vt:lpstr>Conclusion</vt:lpstr>
    </vt:vector>
  </TitlesOfParts>
  <Manager/>
  <Company>University at Buffalo</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Presentation</dc:title>
  <dc:subject/>
  <dc:creator>Division of University Communications</dc:creator>
  <cp:keywords/>
  <dc:description/>
  <cp:lastModifiedBy>Sangeetha D</cp:lastModifiedBy>
  <cp:revision>87</cp:revision>
  <dcterms:created xsi:type="dcterms:W3CDTF">2019-04-04T19:20:28Z</dcterms:created>
  <dcterms:modified xsi:type="dcterms:W3CDTF">2026-09-10T16:51:18Z</dcterms:modified>
  <cp:category/>
</cp:coreProperties>
</file>